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7031b4f-a2a9-38bc-b53d-2c52cfdc952e}">
          <p14:sldIdLst>
            <p14:sldId id="256"/>
          </p14:sldIdLst>
        </p14:section>
        <p14:section name="The application" id="{441bf649-c33b-3738-8413-8c59764bcce6}">
          <p14:sldIdLst>
            <p14:sldId id="257"/>
            <p14:sldId id="258"/>
          </p14:sldIdLst>
        </p14:section>
        <p14:section name="Architecture" id="{803582c9-1329-6b9b-0b8b-543423b8ea34}">
          <p14:sldIdLst>
            <p14:sldId id="259"/>
            <p14:sldId id="260"/>
            <p14:sldId id="261"/>
          </p14:sldIdLst>
        </p14:section>
        <p14:section name="Build and test" id="{5d049ad9-3d56-31ce-bdc0-71c184a71a5e}">
          <p14:sldIdLst>
            <p14:sldId id="262"/>
            <p14:sldId id="263"/>
          </p14:sldIdLst>
        </p14:section>
        <p14:section name="Delivery and security" id="{41cffb08-b63d-9f2a-5b7f-661131d76204}">
          <p14:sldIdLst>
            <p14:sldId id="264"/>
            <p14:sldId id="265"/>
          </p14:sldIdLst>
        </p14:section>
        <p14:section name="Infrastructure" id="{033b98e9-fe30-cab6-5e1a-dd252f581143}">
          <p14:sldIdLst>
            <p14:sldId id="266"/>
            <p14:sldId id="267"/>
            <p14:sldId id="268"/>
          </p14:sldIdLst>
        </p14:section>
        <p14:section name="Operations" id="{29db7fd8-fff4-2e3e-bba3-f556340babaa}">
          <p14:sldIdLst>
            <p14:sldId id="269"/>
            <p14:sldId id="270"/>
          </p14:sldIdLst>
        </p14:section>
        <p14:section name="Wrap-up" id="{c9d53923-60b1-b187-ab5e-11beab08473c}">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Dhruv Sharma (GitHub Spiritsfuse). This is Pantrix, my DevSecOps capstone. Pantrix helps a community food bank track donated stock and its expiry dates so food goes out before it spoils. In this talk I cover the app, the architecture, testing, Docker, the CI/CD pipeline with security gates, Terraform for AWS, Kubernetes with Helm and Argo CD, observability, and the troubleshooting drills. After the slides I switch to a live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donated food is often lost because nobody knows what expires first. Pantrix sorts the shelf by expiry, flags items that should go out this week, records every hand-out and credits donors. The screenshots are the real app running in Docker Compose, on desktop and at 390 pixels on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of a real create, update, hand-out and delete flow captured with Playwright against the running stack. The third one shows a domain rule enforced by the API: you cannot hand out more stock than exists, and the API answers 409 with a message that the form shows to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follows a standard reference architecture: React and Vite, FastAPI, PostgreSQL with SQLAlchemy and Alembic, pytest, Docker, GitHub Actions, Trivy, GHCR, Terraform for AWS VPC and EKS, Kubernetes with Helm, Ingress and HPA, Prometheus and Grafana. On top of that I added Gitleaks, SBOMs, provenance attestations, Argo CD for GitOps, network policies and troubleshooting drills.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enters through ingress-nginx. Slash goes to the frontend Nginx pods, slash api goes straight to the FastAPI pods. The backend runs Alembic in an init container, talks to PostgreSQL in a StatefulSet with a persistent volume, and only backend pods may reach the database because of a NetworkPolicy. Prometheus scrapes every backend pod through a ServiceMonitor and Grafana shows the dashboard. A second copy of the same chart in pantrix-gitops is owned by Argo CD, which watches a Git server in the cluster for the local rehearsal.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tables, all created by an Alembic migration: donors, stock items and distributions. The API has full CRUD for items and donors plus distributions, statistics, and the health, readiness and metrics endpoints. Validation errors return 422, missing records 404, and business rule conflicts such as handing out more than is in stock return 409.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has 31 pytest tests with 96 percent coverage, and CI fails below 85 percent. They run against a temporary SQLite database created by the real Alembic migrations, and conftest refuses to run against anything else. The frontend has 10 Vitest tests, and Ruff, Bandit, pip-audit and npm audit report no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are multi-stage. The backend runtime image has no pip and no compiler and runs as uid 10001; the frontend runs on unprivileged Nginx as uid 101. The terminal shows the configured image users and the real PID 1 user inside each running container. One docker compose up --build starts PostgreSQL, the API and the UI with health checks and a persistent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triggers on every push to main. Four gates run in parallel: backend tests and SAST, frontend lint, tests and build, a Gitleaks scan of the full history, and infrastructure checks. Only if all pass are the two images built, checked for a non-root user, scanned by Trivy, given an SBOM, and pushed to GHCR tagged with the commit SHA, never latest. A kind job rehearses the Helm deploy through the Ingress, and promote.yml commits the new tag for Argo CD. Status: the latest run on GitHub is green. Every gate, both Trivy scans, the registry push with provenance and the kind deploy passed, and promote.yml then committed the SHA for Argo 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CVE I can explain. Trivy failed the backend image with four fixable HIGH vulnerabilities in msgpack, urllib3 and setuptools. They came from pip's own vendored copies and the ensurepip wheels, which the API never uses. Instead of ignoring them, I removed pip from the runtime image in commit 964bf54, and the gate passed. Trivy's config scan also caught a public Kubernetes API open to the world, which I fixed, and node egress is a documented, justified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Terraform creates a VPC with two public and two private subnets across two availability zones in ap-south-1, a single NAT gateway, and an EKS 1.35 cluster with one managed node group in the private subnets, KMS-encrypted secrets and control-plane logs. I ran it against a real AWS account: the plan had 62 resources and the apply created them. The first apply stopped at the node group because the account is on the Free plan and rejects t3.medium; with an eligible type the two nodes became Ready, and I captured the Console pages and kubectl output. Then I ran terraform destroy: 62 destroyed and nothing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Helm chart deploys two frontend and two backend replicas behind ClusterIP services, PostgreSQL as a StatefulSet, an Ingress that routes slash to the UI and slash api to FastAPI, HPAs, disruption budgets and a network policy. Every pod meets the restricted Pod Security profile. Under generated load, CPU reached about four times the target and the HPA scaled the backend from two to six pods, which is what this terminal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and deployment are separate. CI only builds, scans and publishes images. Deployment is a Git commit that changes the image tag in the GitOps values file, and Argo CD reconciles the cluster to it with prune and self-heal. I promoted a real fix this way and Argo CD went to Synced and Healthy at that commit. On GitHub the promote workflow commits the same change, for example d311f11; the local demo cluster reads from a Git server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exposes Prometheus metrics, and the Prometheus Operator scrapes every backend pod through a ServiceMonitor. During the load test all six pods were UP. The Grafana dashboard shows request rate by endpoint, error ratio, latency percentiles, business counters such as units handed out, and pod CPU and memory, all from real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scripted five break, diagnose, fix drills and ran all of them: a wrong image tag, a Service selector that matches nothing, a pod that is alive but not ready because of a wrong database password, a failing migration init container, and a bad Helm release rolled back with zero downtime. Running drill two exposed a real bug: the lab frontend crash-looped because Nginx only resolved the backend at start-up, so I fixed it to resolve at request time, in the real app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biggest lessons were fixing the cause of a scanner finding instead of suppressing it, the difference between liveness and readiness, separating build from deployment with GitOps, and how much drills reveal. Everything on the middle column is verified with real output in docs/evidence. The GitHub Actions run with its registry packages, and the AWS apply and destroy, are verified too. Thank you. Now the live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ntrix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5852160" cy="1371600"/>
          </a:xfrm>
          <a:prstGeom prst="rect">
            <a:avLst/>
          </a:prstGeom>
          <a:noFill/>
          <a:ln/>
        </p:spPr>
        <p:txBody>
          <a:bodyPr wrap="square" rtlCol="0"/>
          <a:lstStyle>
            <a:lvl1pPr algn="l" indent="0" marL="0">
              <a:buNone/>
              <a:defRPr lang="en-US" sz="6000" b="1" dirty="0">
                <a:solidFill>
                  <a:schemeClr val="bg2"/>
                </a:solidFill>
              </a:defRPr>
            </a:lvl1pPr>
          </a:lstStyle>
          <a:p>
            <a:pPr algn="l" indent="0" marL="0">
              <a:buNone/>
            </a:pPr>
            <a:endParaRPr lang="en-US" sz="6000" dirty="0"/>
          </a:p>
        </p:txBody>
      </p:sp>
      <p:sp>
        <p:nvSpPr>
          <p:cNvPr id="3" name="Text 0"/>
          <p:cNvSpPr/>
          <p:nvPr>
            <p:ph idx="101" type="body" hasCustomPrompt="1"/>
          </p:nvPr>
        </p:nvSpPr>
        <p:spPr>
          <a:xfrm>
            <a:off x="640080" y="2926080"/>
            <a:ext cx="548640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ntrix 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Pantrix · Dhruv Sharma (@Spiritsfuse) · DevSecOps capstone</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ntrix 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bg2"/>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5852160" cy="1371600"/>
          </a:xfrm>
          <a:prstGeom prst="rect">
            <a:avLst/>
          </a:prstGeom>
          <a:noFill/>
          <a:ln/>
        </p:spPr>
        <p:txBody>
          <a:bodyPr wrap="square" lIns="0" tIns="0" rIns="0" bIns="0" rtlCol="0" anchor="b"/>
          <a:lstStyle/>
          <a:p>
            <a:pPr algn="l" indent="0" marL="0">
              <a:buNone/>
            </a:pPr>
            <a:r>
              <a:rPr lang="en-US" sz="6000" b="1" dirty="0">
                <a:solidFill>
                  <a:schemeClr val="bg2"/>
                </a:solidFill>
              </a:rPr>
              <a:t>Pantrix</a:t>
            </a:r>
            <a:endParaRPr lang="en-US" sz="6000" dirty="0"/>
          </a:p>
        </p:txBody>
      </p:sp>
      <p:sp>
        <p:nvSpPr>
          <p:cNvPr id="3" name="Text 0"/>
          <p:cNvSpPr/>
          <p:nvPr>
            <p:ph idx="101" type="body" hasCustomPrompt="1"/>
          </p:nvPr>
        </p:nvSpPr>
        <p:spPr>
          <a:xfrm>
            <a:off x="640080" y="2926080"/>
            <a:ext cx="5486400" cy="1280160"/>
          </a:xfrm>
          <a:prstGeom prst="rect">
            <a:avLst/>
          </a:prstGeom>
          <a:noFill/>
          <a:ln/>
        </p:spPr>
        <p:txBody>
          <a:bodyPr wrap="square" lIns="0" tIns="0" rIns="0" bIns="0" rtlCol="0" anchor="t"/>
          <a:lstStyle/>
          <a:p>
            <a:pPr algn="l" indent="0" marL="0">
              <a:buNone/>
            </a:pPr>
            <a:r>
              <a:rPr lang="en-US" sz="2000" dirty="0">
                <a:solidFill>
                  <a:schemeClr val="bg2"/>
                </a:solidFill>
              </a:rPr>
              <a:t>Donated stock and expiry tracking for community food banks, taken from a laptop to a monitored Kubernetes cluster</a:t>
            </a:r>
            <a:endParaRPr lang="en-US" sz="2000" dirty="0"/>
          </a:p>
          <a:p>
            <a:pPr algn="l" indent="0" marL="0">
              <a:buNone/>
            </a:pPr>
            <a:r>
              <a:rPr lang="en-US" sz="800" dirty="0">
                <a:solidFill>
                  <a:schemeClr val="bg2"/>
                </a:solidFill>
              </a:rPr>
              <a:t> </a:t>
            </a:r>
            <a:endParaRPr lang="en-US" sz="2000" dirty="0"/>
          </a:p>
          <a:p>
            <a:pPr algn="l" indent="0" marL="0">
              <a:buNone/>
            </a:pPr>
            <a:r>
              <a:rPr lang="en-US" sz="1500" dirty="0">
                <a:solidFill>
                  <a:srgbClr val="C48A0C"/>
                </a:solidFill>
              </a:rPr>
              <a:t>DevSecOps capstone · Dhruv Sharma · @Spiritsfuse · github.com/spiritsfuse</a:t>
            </a:r>
            <a:endParaRPr lang="en-US" sz="2000" dirty="0"/>
          </a:p>
        </p:txBody>
      </p:sp>
      <p:sp>
        <p:nvSpPr>
          <p:cNvPr id="4" name="title-app-card"/>
          <p:cNvSpPr/>
          <p:nvPr/>
        </p:nvSpPr>
        <p:spPr>
          <a:xfrm>
            <a:off x="6812280" y="1542599"/>
            <a:ext cx="4846320" cy="3224162"/>
          </a:xfrm>
          <a:prstGeom prst="roundRect">
            <a:avLst>
              <a:gd name="adj" fmla="val 2269"/>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5" name="title-app" descr="title-app">    </p:cNvPr>
          <p:cNvPicPr>
            <a:picLocks noChangeAspect="1"/>
          </p:cNvPicPr>
          <p:nvPr/>
        </p:nvPicPr>
        <p:blipFill>
          <a:blip r:embed="rId1"/>
          <a:stretch>
            <a:fillRect/>
          </a:stretch>
        </p:blipFill>
        <p:spPr>
          <a:xfrm>
            <a:off x="6885432" y="1615751"/>
            <a:ext cx="4700016" cy="30778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Food banks lose donated food to expiry, not to demand</a:t>
            </a:r>
            <a:endParaRPr lang="en-US" sz="3400" dirty="0"/>
          </a:p>
        </p:txBody>
      </p:sp>
      <p:sp>
        <p:nvSpPr>
          <p:cNvPr id="3" name="p1-box"/>
          <p:cNvSpPr/>
          <p:nvPr/>
        </p:nvSpPr>
        <p:spPr>
          <a:xfrm>
            <a:off x="548640" y="1325880"/>
            <a:ext cx="4206240" cy="1371600"/>
          </a:xfrm>
          <a:prstGeom prst="roundRect">
            <a:avLst>
              <a:gd name="adj" fmla="val 6667"/>
            </a:avLst>
          </a:prstGeom>
          <a:solidFill>
            <a:schemeClr val="bg1"/>
          </a:solidFill>
          <a:ln w="9525">
            <a:solidFill>
              <a:srgbClr val="E0D2BB"/>
            </a:solidFill>
            <a:prstDash val="solid"/>
          </a:ln>
        </p:spPr>
      </p:sp>
      <p:sp>
        <p:nvSpPr>
          <p:cNvPr id="4" name="p1-dot"/>
          <p:cNvSpPr/>
          <p:nvPr/>
        </p:nvSpPr>
        <p:spPr>
          <a:xfrm>
            <a:off x="731520" y="1527048"/>
            <a:ext cx="201168" cy="201168"/>
          </a:xfrm>
          <a:prstGeom prst="ellipse">
            <a:avLst/>
          </a:prstGeom>
          <a:solidFill>
            <a:srgbClr val="C48A0C"/>
          </a:solidFill>
          <a:ln w="12700">
            <a:solidFill>
              <a:srgbClr val="C48A0C"/>
            </a:solidFill>
            <a:prstDash val="solid"/>
          </a:ln>
        </p:spPr>
      </p:sp>
      <p:sp>
        <p:nvSpPr>
          <p:cNvPr id="5" name="p1-title"/>
          <p:cNvSpPr txBox="1"/>
          <p:nvPr/>
        </p:nvSpPr>
        <p:spPr>
          <a:xfrm>
            <a:off x="1024128" y="1435608"/>
            <a:ext cx="356616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Know what expires first</a:t>
            </a:r>
            <a:endParaRPr lang="en-US" sz="1700" dirty="0"/>
          </a:p>
        </p:txBody>
      </p:sp>
      <p:sp>
        <p:nvSpPr>
          <p:cNvPr id="6" name="p1-body"/>
          <p:cNvSpPr txBox="1"/>
          <p:nvPr/>
        </p:nvSpPr>
        <p:spPr>
          <a:xfrm>
            <a:off x="731520" y="1874520"/>
            <a:ext cx="3840480" cy="731520"/>
          </a:xfrm>
          <a:prstGeom prst="rect">
            <a:avLst/>
          </a:prstGeom>
          <a:noFill/>
          <a:ln/>
        </p:spPr>
        <p:txBody>
          <a:bodyPr wrap="square" lIns="0" tIns="0" rIns="0" bIns="0" rtlCol="0" anchor="t"/>
          <a:lstStyle/>
          <a:p>
            <a:pPr indent="0" marL="0">
              <a:buNone/>
            </a:pPr>
            <a:r>
              <a:rPr lang="en-US" sz="1300" dirty="0">
                <a:solidFill>
                  <a:schemeClr val="tx2"/>
                </a:solidFill>
              </a:rPr>
              <a:t>Every item has an expiry date; the shelf is sorted soonest-first and flagged Use soon (7 days), Expired or Out of stock.</a:t>
            </a:r>
            <a:endParaRPr lang="en-US" sz="1300" dirty="0"/>
          </a:p>
        </p:txBody>
      </p:sp>
      <p:sp>
        <p:nvSpPr>
          <p:cNvPr id="7" name="p2-box"/>
          <p:cNvSpPr/>
          <p:nvPr/>
        </p:nvSpPr>
        <p:spPr>
          <a:xfrm>
            <a:off x="548640" y="2834640"/>
            <a:ext cx="4206240" cy="1371600"/>
          </a:xfrm>
          <a:prstGeom prst="roundRect">
            <a:avLst>
              <a:gd name="adj" fmla="val 6667"/>
            </a:avLst>
          </a:prstGeom>
          <a:solidFill>
            <a:schemeClr val="bg1"/>
          </a:solidFill>
          <a:ln w="9525">
            <a:solidFill>
              <a:srgbClr val="E0D2BB"/>
            </a:solidFill>
            <a:prstDash val="solid"/>
          </a:ln>
        </p:spPr>
      </p:sp>
      <p:sp>
        <p:nvSpPr>
          <p:cNvPr id="8" name="p2-dot"/>
          <p:cNvSpPr/>
          <p:nvPr/>
        </p:nvSpPr>
        <p:spPr>
          <a:xfrm>
            <a:off x="731520" y="3035808"/>
            <a:ext cx="201168" cy="201168"/>
          </a:xfrm>
          <a:prstGeom prst="ellipse">
            <a:avLst/>
          </a:prstGeom>
          <a:solidFill>
            <a:srgbClr val="B8532D"/>
          </a:solidFill>
          <a:ln w="12700">
            <a:solidFill>
              <a:srgbClr val="B8532D"/>
            </a:solidFill>
            <a:prstDash val="solid"/>
          </a:ln>
        </p:spPr>
      </p:sp>
      <p:sp>
        <p:nvSpPr>
          <p:cNvPr id="9" name="p2-title"/>
          <p:cNvSpPr txBox="1"/>
          <p:nvPr/>
        </p:nvSpPr>
        <p:spPr>
          <a:xfrm>
            <a:off x="1024128" y="2944368"/>
            <a:ext cx="356616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Record every hand-out</a:t>
            </a:r>
            <a:endParaRPr lang="en-US" sz="1700" dirty="0"/>
          </a:p>
        </p:txBody>
      </p:sp>
      <p:sp>
        <p:nvSpPr>
          <p:cNvPr id="10" name="p2-body"/>
          <p:cNvSpPr txBox="1"/>
          <p:nvPr/>
        </p:nvSpPr>
        <p:spPr>
          <a:xfrm>
            <a:off x="731520" y="3383280"/>
            <a:ext cx="3840480" cy="731520"/>
          </a:xfrm>
          <a:prstGeom prst="rect">
            <a:avLst/>
          </a:prstGeom>
          <a:noFill/>
          <a:ln/>
        </p:spPr>
        <p:txBody>
          <a:bodyPr wrap="square" lIns="0" tIns="0" rIns="0" bIns="0" rtlCol="0" anchor="t"/>
          <a:lstStyle/>
          <a:p>
            <a:pPr indent="0" marL="0">
              <a:buNone/>
            </a:pPr>
            <a:r>
              <a:rPr lang="en-US" sz="1300" dirty="0">
                <a:solidFill>
                  <a:schemeClr val="tx2"/>
                </a:solidFill>
              </a:rPr>
              <a:t>Distributions decrement stock in one transaction; expired or over-asked stock is refused with HTTP 409.</a:t>
            </a:r>
            <a:endParaRPr lang="en-US" sz="1300" dirty="0"/>
          </a:p>
        </p:txBody>
      </p:sp>
      <p:sp>
        <p:nvSpPr>
          <p:cNvPr id="11" name="p3-box"/>
          <p:cNvSpPr/>
          <p:nvPr/>
        </p:nvSpPr>
        <p:spPr>
          <a:xfrm>
            <a:off x="548640" y="4343400"/>
            <a:ext cx="4206240" cy="1188720"/>
          </a:xfrm>
          <a:prstGeom prst="roundRect">
            <a:avLst>
              <a:gd name="adj" fmla="val 7692"/>
            </a:avLst>
          </a:prstGeom>
          <a:solidFill>
            <a:schemeClr val="bg1"/>
          </a:solidFill>
          <a:ln w="9525">
            <a:solidFill>
              <a:srgbClr val="E0D2BB"/>
            </a:solidFill>
            <a:prstDash val="solid"/>
          </a:ln>
        </p:spPr>
      </p:sp>
      <p:sp>
        <p:nvSpPr>
          <p:cNvPr id="12" name="p3-dot"/>
          <p:cNvSpPr/>
          <p:nvPr/>
        </p:nvSpPr>
        <p:spPr>
          <a:xfrm>
            <a:off x="731520" y="4544568"/>
            <a:ext cx="201168" cy="201168"/>
          </a:xfrm>
          <a:prstGeom prst="ellipse">
            <a:avLst/>
          </a:prstGeom>
          <a:solidFill>
            <a:srgbClr val="5F7330"/>
          </a:solidFill>
          <a:ln w="12700">
            <a:solidFill>
              <a:srgbClr val="5F7330"/>
            </a:solidFill>
            <a:prstDash val="solid"/>
          </a:ln>
        </p:spPr>
      </p:sp>
      <p:sp>
        <p:nvSpPr>
          <p:cNvPr id="13" name="p3-title"/>
          <p:cNvSpPr txBox="1"/>
          <p:nvPr/>
        </p:nvSpPr>
        <p:spPr>
          <a:xfrm>
            <a:off x="1024128" y="4453128"/>
            <a:ext cx="356616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Credit donors</a:t>
            </a:r>
            <a:endParaRPr lang="en-US" sz="1700" dirty="0"/>
          </a:p>
        </p:txBody>
      </p:sp>
      <p:sp>
        <p:nvSpPr>
          <p:cNvPr id="14" name="p3-body"/>
          <p:cNvSpPr txBox="1"/>
          <p:nvPr/>
        </p:nvSpPr>
        <p:spPr>
          <a:xfrm>
            <a:off x="731520" y="4892040"/>
            <a:ext cx="3840480" cy="548640"/>
          </a:xfrm>
          <a:prstGeom prst="rect">
            <a:avLst/>
          </a:prstGeom>
          <a:noFill/>
          <a:ln/>
        </p:spPr>
        <p:txBody>
          <a:bodyPr wrap="square" lIns="0" tIns="0" rIns="0" bIns="0" rtlCol="0" anchor="t"/>
          <a:lstStyle/>
          <a:p>
            <a:pPr indent="0" marL="0">
              <a:buNone/>
            </a:pPr>
            <a:r>
              <a:rPr lang="en-US" sz="1300" dirty="0">
                <a:solidFill>
                  <a:schemeClr val="tx2"/>
                </a:solidFill>
              </a:rPr>
              <a:t>Farms, kitchens and neighbours are tracked with the items they gave.</a:t>
            </a:r>
            <a:endParaRPr lang="en-US" sz="1300" dirty="0"/>
          </a:p>
        </p:txBody>
      </p:sp>
      <p:sp>
        <p:nvSpPr>
          <p:cNvPr id="15" name="app-desktop-card"/>
          <p:cNvSpPr/>
          <p:nvPr/>
        </p:nvSpPr>
        <p:spPr>
          <a:xfrm>
            <a:off x="5074920" y="2020595"/>
            <a:ext cx="4754880" cy="3456889"/>
          </a:xfrm>
          <a:prstGeom prst="roundRect">
            <a:avLst>
              <a:gd name="adj" fmla="val 2116"/>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16" name="app-desktop" descr="Shelf view served by Docker Compose (localhost:3000)">    </p:cNvPr>
          <p:cNvPicPr>
            <a:picLocks noChangeAspect="1"/>
          </p:cNvPicPr>
          <p:nvPr/>
        </p:nvPicPr>
        <p:blipFill>
          <a:blip r:embed="rId1"/>
          <a:stretch>
            <a:fillRect/>
          </a:stretch>
        </p:blipFill>
        <p:spPr>
          <a:xfrm>
            <a:off x="5148072" y="2093747"/>
            <a:ext cx="4608576" cy="3017977"/>
          </a:xfrm>
          <a:prstGeom prst="rect">
            <a:avLst/>
          </a:prstGeom>
        </p:spPr>
      </p:pic>
      <p:sp>
        <p:nvSpPr>
          <p:cNvPr id="17" name="app-desktop-caption"/>
          <p:cNvSpPr txBox="1"/>
          <p:nvPr/>
        </p:nvSpPr>
        <p:spPr>
          <a:xfrm>
            <a:off x="5148072" y="5148301"/>
            <a:ext cx="4608576" cy="256032"/>
          </a:xfrm>
          <a:prstGeom prst="rect">
            <a:avLst/>
          </a:prstGeom>
          <a:noFill/>
          <a:ln/>
        </p:spPr>
        <p:txBody>
          <a:bodyPr wrap="square" lIns="0" tIns="0" rIns="0" bIns="0" rtlCol="0" anchor="ctr"/>
          <a:lstStyle/>
          <a:p>
            <a:pPr indent="0" marL="0">
              <a:buNone/>
            </a:pPr>
            <a:r>
              <a:rPr lang="en-US" sz="1050" dirty="0">
                <a:solidFill>
                  <a:schemeClr val="tx2"/>
                </a:solidFill>
              </a:rPr>
              <a:t>Shelf view served by Docker Compose (localhost:3000)</a:t>
            </a:r>
            <a:endParaRPr lang="en-US" sz="1050" dirty="0"/>
          </a:p>
        </p:txBody>
      </p:sp>
      <p:sp>
        <p:nvSpPr>
          <p:cNvPr id="18" name="app-mobile-card"/>
          <p:cNvSpPr/>
          <p:nvPr/>
        </p:nvSpPr>
        <p:spPr>
          <a:xfrm>
            <a:off x="9966960" y="1772260"/>
            <a:ext cx="1691640" cy="3953561"/>
          </a:xfrm>
          <a:prstGeom prst="roundRect">
            <a:avLst>
              <a:gd name="adj" fmla="val 4324"/>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19" name="app-mobile" descr="390 px mobile layout">    </p:cNvPr>
          <p:cNvPicPr>
            <a:picLocks noChangeAspect="1"/>
          </p:cNvPicPr>
          <p:nvPr/>
        </p:nvPicPr>
        <p:blipFill>
          <a:blip r:embed="rId2"/>
          <a:stretch>
            <a:fillRect/>
          </a:stretch>
        </p:blipFill>
        <p:spPr>
          <a:xfrm>
            <a:off x="10040112" y="1845412"/>
            <a:ext cx="1545336" cy="3514649"/>
          </a:xfrm>
          <a:prstGeom prst="rect">
            <a:avLst/>
          </a:prstGeom>
        </p:spPr>
      </p:pic>
      <p:sp>
        <p:nvSpPr>
          <p:cNvPr id="20" name="app-mobile-caption"/>
          <p:cNvSpPr txBox="1"/>
          <p:nvPr/>
        </p:nvSpPr>
        <p:spPr>
          <a:xfrm>
            <a:off x="10040112" y="5396636"/>
            <a:ext cx="1545336" cy="256032"/>
          </a:xfrm>
          <a:prstGeom prst="rect">
            <a:avLst/>
          </a:prstGeom>
          <a:noFill/>
          <a:ln/>
        </p:spPr>
        <p:txBody>
          <a:bodyPr wrap="square" lIns="0" tIns="0" rIns="0" bIns="0" rtlCol="0" anchor="ctr"/>
          <a:lstStyle/>
          <a:p>
            <a:pPr indent="0" marL="0">
              <a:buNone/>
            </a:pPr>
            <a:r>
              <a:rPr lang="en-US" sz="1050" dirty="0">
                <a:solidFill>
                  <a:schemeClr val="tx2"/>
                </a:solidFill>
              </a:rPr>
              <a:t>390 px mobile layout</a:t>
            </a:r>
            <a:endParaRPr lang="en-US" sz="10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Real CRUD through the API, validation users can see</a:t>
            </a:r>
            <a:endParaRPr lang="en-US" sz="3400" dirty="0"/>
          </a:p>
        </p:txBody>
      </p:sp>
      <p:sp>
        <p:nvSpPr>
          <p:cNvPr id="3" name="crud-create-card"/>
          <p:cNvSpPr/>
          <p:nvPr/>
        </p:nvSpPr>
        <p:spPr>
          <a:xfrm>
            <a:off x="548640" y="1465478"/>
            <a:ext cx="3657600" cy="2738323"/>
          </a:xfrm>
          <a:prstGeom prst="roundRect">
            <a:avLst>
              <a:gd name="adj" fmla="val 2671"/>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4" name="crud-create" descr="Create: log a donation in the slide-in form">    </p:cNvPr>
          <p:cNvPicPr>
            <a:picLocks noChangeAspect="1"/>
          </p:cNvPicPr>
          <p:nvPr/>
        </p:nvPicPr>
        <p:blipFill>
          <a:blip r:embed="rId1"/>
          <a:stretch>
            <a:fillRect/>
          </a:stretch>
        </p:blipFill>
        <p:spPr>
          <a:xfrm>
            <a:off x="621792" y="1538630"/>
            <a:ext cx="3511296" cy="2299411"/>
          </a:xfrm>
          <a:prstGeom prst="rect">
            <a:avLst/>
          </a:prstGeom>
        </p:spPr>
      </p:pic>
      <p:sp>
        <p:nvSpPr>
          <p:cNvPr id="5" name="crud-create-caption"/>
          <p:cNvSpPr txBox="1"/>
          <p:nvPr/>
        </p:nvSpPr>
        <p:spPr>
          <a:xfrm>
            <a:off x="621792" y="3874618"/>
            <a:ext cx="3511296" cy="256032"/>
          </a:xfrm>
          <a:prstGeom prst="rect">
            <a:avLst/>
          </a:prstGeom>
          <a:noFill/>
          <a:ln/>
        </p:spPr>
        <p:txBody>
          <a:bodyPr wrap="square" lIns="0" tIns="0" rIns="0" bIns="0" rtlCol="0" anchor="ctr"/>
          <a:lstStyle/>
          <a:p>
            <a:pPr indent="0" marL="0">
              <a:buNone/>
            </a:pPr>
            <a:r>
              <a:rPr lang="en-US" sz="1050" dirty="0">
                <a:solidFill>
                  <a:schemeClr val="tx2"/>
                </a:solidFill>
              </a:rPr>
              <a:t>Create: log a donation in the slide-in form</a:t>
            </a:r>
            <a:endParaRPr lang="en-US" sz="1050" dirty="0"/>
          </a:p>
        </p:txBody>
      </p:sp>
      <p:sp>
        <p:nvSpPr>
          <p:cNvPr id="6" name="crud-created-card"/>
          <p:cNvSpPr/>
          <p:nvPr/>
        </p:nvSpPr>
        <p:spPr>
          <a:xfrm>
            <a:off x="4270248" y="1465478"/>
            <a:ext cx="3657600" cy="2738323"/>
          </a:xfrm>
          <a:prstGeom prst="roundRect">
            <a:avLst>
              <a:gd name="adj" fmla="val 2671"/>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7" name="crud-created" descr="Created: toast, KPI strip and shelf update">    </p:cNvPr>
          <p:cNvPicPr>
            <a:picLocks noChangeAspect="1"/>
          </p:cNvPicPr>
          <p:nvPr/>
        </p:nvPicPr>
        <p:blipFill>
          <a:blip r:embed="rId2"/>
          <a:stretch>
            <a:fillRect/>
          </a:stretch>
        </p:blipFill>
        <p:spPr>
          <a:xfrm>
            <a:off x="4343400" y="1538630"/>
            <a:ext cx="3511296" cy="2299411"/>
          </a:xfrm>
          <a:prstGeom prst="rect">
            <a:avLst/>
          </a:prstGeom>
        </p:spPr>
      </p:pic>
      <p:sp>
        <p:nvSpPr>
          <p:cNvPr id="8" name="crud-created-caption"/>
          <p:cNvSpPr txBox="1"/>
          <p:nvPr/>
        </p:nvSpPr>
        <p:spPr>
          <a:xfrm>
            <a:off x="4343400" y="3874618"/>
            <a:ext cx="3511296" cy="256032"/>
          </a:xfrm>
          <a:prstGeom prst="rect">
            <a:avLst/>
          </a:prstGeom>
          <a:noFill/>
          <a:ln/>
        </p:spPr>
        <p:txBody>
          <a:bodyPr wrap="square" lIns="0" tIns="0" rIns="0" bIns="0" rtlCol="0" anchor="ctr"/>
          <a:lstStyle/>
          <a:p>
            <a:pPr indent="0" marL="0">
              <a:buNone/>
            </a:pPr>
            <a:r>
              <a:rPr lang="en-US" sz="1050" dirty="0">
                <a:solidFill>
                  <a:schemeClr val="tx2"/>
                </a:solidFill>
              </a:rPr>
              <a:t>Created: toast, KPI strip and shelf update</a:t>
            </a:r>
            <a:endParaRPr lang="en-US" sz="1050" dirty="0"/>
          </a:p>
        </p:txBody>
      </p:sp>
      <p:sp>
        <p:nvSpPr>
          <p:cNvPr id="9" name="crud-conflict-card"/>
          <p:cNvSpPr/>
          <p:nvPr/>
        </p:nvSpPr>
        <p:spPr>
          <a:xfrm>
            <a:off x="7991856" y="1465478"/>
            <a:ext cx="3657600" cy="2738323"/>
          </a:xfrm>
          <a:prstGeom prst="roundRect">
            <a:avLst>
              <a:gd name="adj" fmla="val 2671"/>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10" name="crud-conflict" descr="API rule: cannot hand out more than in stock (409)">    </p:cNvPr>
          <p:cNvPicPr>
            <a:picLocks noChangeAspect="1"/>
          </p:cNvPicPr>
          <p:nvPr/>
        </p:nvPicPr>
        <p:blipFill>
          <a:blip r:embed="rId3"/>
          <a:stretch>
            <a:fillRect/>
          </a:stretch>
        </p:blipFill>
        <p:spPr>
          <a:xfrm>
            <a:off x="8065008" y="1538630"/>
            <a:ext cx="3511296" cy="2299411"/>
          </a:xfrm>
          <a:prstGeom prst="rect">
            <a:avLst/>
          </a:prstGeom>
        </p:spPr>
      </p:pic>
      <p:sp>
        <p:nvSpPr>
          <p:cNvPr id="11" name="crud-conflict-caption"/>
          <p:cNvSpPr txBox="1"/>
          <p:nvPr/>
        </p:nvSpPr>
        <p:spPr>
          <a:xfrm>
            <a:off x="8065008" y="3874618"/>
            <a:ext cx="3511296" cy="256032"/>
          </a:xfrm>
          <a:prstGeom prst="rect">
            <a:avLst/>
          </a:prstGeom>
          <a:noFill/>
          <a:ln/>
        </p:spPr>
        <p:txBody>
          <a:bodyPr wrap="square" lIns="0" tIns="0" rIns="0" bIns="0" rtlCol="0" anchor="ctr"/>
          <a:lstStyle/>
          <a:p>
            <a:pPr indent="0" marL="0">
              <a:buNone/>
            </a:pPr>
            <a:r>
              <a:rPr lang="en-US" sz="1050" dirty="0">
                <a:solidFill>
                  <a:schemeClr val="tx2"/>
                </a:solidFill>
              </a:rPr>
              <a:t>API rule: cannot hand out more than in stock (409)</a:t>
            </a:r>
            <a:endParaRPr lang="en-US" sz="1050" dirty="0"/>
          </a:p>
        </p:txBody>
      </p:sp>
      <p:sp>
        <p:nvSpPr>
          <p:cNvPr id="12" name="crud-notes"/>
          <p:cNvSpPr txBox="1"/>
          <p:nvPr/>
        </p:nvSpPr>
        <p:spPr>
          <a:xfrm>
            <a:off x="548640" y="4709160"/>
            <a:ext cx="11064240" cy="14630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React 19 + Vite frontend calls relative /api paths, so the same build works behind Vite, Nginx and the Ingress</a:t>
            </a:r>
            <a:endParaRPr lang="en-US" sz="1500" dirty="0"/>
          </a:p>
          <a:p>
            <a:pPr marL="203200" indent="-203200">
              <a:spcAft>
                <a:spcPts val="600"/>
              </a:spcAft>
              <a:buSzPct val="100000"/>
              <a:buChar char="•"/>
            </a:pPr>
            <a:r>
              <a:rPr lang="en-US" sz="1500" dirty="0">
                <a:solidFill>
                  <a:schemeClr val="tx1"/>
                </a:solidFill>
              </a:rPr>
              <a:t>Every screen has loading skeletons, empty states, error banners with retry, and success toasts</a:t>
            </a:r>
            <a:endParaRPr lang="en-US" sz="1500" dirty="0"/>
          </a:p>
          <a:p>
            <a:pPr marL="203200" indent="-203200">
              <a:spcAft>
                <a:spcPts val="600"/>
              </a:spcAft>
              <a:buSzPct val="100000"/>
              <a:buChar char="•"/>
            </a:pPr>
            <a:r>
              <a:rPr lang="en-US" sz="1500" dirty="0">
                <a:solidFill>
                  <a:schemeClr val="tx1"/>
                </a:solidFill>
              </a:rPr>
              <a:t>Captured with Playwright against the live stack: create, edit, hand out, API conflict, delete (docs/evidence/crud-*.png)</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Tech stack</a:t>
            </a:r>
            <a:endParaRPr lang="en-US" sz="3400" dirty="0"/>
          </a:p>
        </p:txBody>
      </p:sp>
      <p:sp>
        <p:nvSpPr>
          <p:cNvPr id="3" name="stack0-box"/>
          <p:cNvSpPr/>
          <p:nvPr/>
        </p:nvSpPr>
        <p:spPr>
          <a:xfrm>
            <a:off x="548640" y="1371600"/>
            <a:ext cx="3566160" cy="2194560"/>
          </a:xfrm>
          <a:prstGeom prst="roundRect">
            <a:avLst>
              <a:gd name="adj" fmla="val 4167"/>
            </a:avLst>
          </a:prstGeom>
          <a:solidFill>
            <a:schemeClr val="bg1"/>
          </a:solidFill>
          <a:ln w="9525">
            <a:solidFill>
              <a:srgbClr val="E0D2BB"/>
            </a:solidFill>
            <a:prstDash val="solid"/>
          </a:ln>
        </p:spPr>
      </p:sp>
      <p:sp>
        <p:nvSpPr>
          <p:cNvPr id="4" name="stack0-dot"/>
          <p:cNvSpPr/>
          <p:nvPr/>
        </p:nvSpPr>
        <p:spPr>
          <a:xfrm>
            <a:off x="731520" y="1572768"/>
            <a:ext cx="201168" cy="201168"/>
          </a:xfrm>
          <a:prstGeom prst="ellipse">
            <a:avLst/>
          </a:prstGeom>
          <a:solidFill>
            <a:srgbClr val="B8532D"/>
          </a:solidFill>
          <a:ln w="12700">
            <a:solidFill>
              <a:srgbClr val="B8532D"/>
            </a:solidFill>
            <a:prstDash val="solid"/>
          </a:ln>
        </p:spPr>
      </p:sp>
      <p:sp>
        <p:nvSpPr>
          <p:cNvPr id="5" name="stack0-title"/>
          <p:cNvSpPr txBox="1"/>
          <p:nvPr/>
        </p:nvSpPr>
        <p:spPr>
          <a:xfrm>
            <a:off x="1024128" y="1481328"/>
            <a:ext cx="292608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Application</a:t>
            </a:r>
            <a:endParaRPr lang="en-US" sz="1700" dirty="0"/>
          </a:p>
        </p:txBody>
      </p:sp>
      <p:sp>
        <p:nvSpPr>
          <p:cNvPr id="6" name="stack0-body"/>
          <p:cNvSpPr txBox="1"/>
          <p:nvPr/>
        </p:nvSpPr>
        <p:spPr>
          <a:xfrm>
            <a:off x="731520" y="1920240"/>
            <a:ext cx="3200400" cy="1554480"/>
          </a:xfrm>
          <a:prstGeom prst="rect">
            <a:avLst/>
          </a:prstGeom>
          <a:noFill/>
          <a:ln/>
        </p:spPr>
        <p:txBody>
          <a:bodyPr wrap="square" lIns="0" tIns="0" rIns="0" bIns="0" rtlCol="0" anchor="t"/>
          <a:lstStyle/>
          <a:p>
            <a:pPr indent="0" marL="0">
              <a:buNone/>
            </a:pPr>
            <a:r>
              <a:rPr lang="en-US" sz="1300" dirty="0">
                <a:solidFill>
                  <a:schemeClr val="tx2"/>
                </a:solidFill>
              </a:rPr>
              <a:t>React 19 · Vite 8 · FastAPI · SQLAlchemy 2 · Alembic · PostgreSQL 17 · Pydantic validation</a:t>
            </a:r>
            <a:endParaRPr lang="en-US" sz="1300" dirty="0"/>
          </a:p>
        </p:txBody>
      </p:sp>
      <p:sp>
        <p:nvSpPr>
          <p:cNvPr id="7" name="stack1-box"/>
          <p:cNvSpPr/>
          <p:nvPr/>
        </p:nvSpPr>
        <p:spPr>
          <a:xfrm>
            <a:off x="4297680" y="1371600"/>
            <a:ext cx="3566160" cy="2194560"/>
          </a:xfrm>
          <a:prstGeom prst="roundRect">
            <a:avLst>
              <a:gd name="adj" fmla="val 4167"/>
            </a:avLst>
          </a:prstGeom>
          <a:solidFill>
            <a:schemeClr val="bg1"/>
          </a:solidFill>
          <a:ln w="9525">
            <a:solidFill>
              <a:srgbClr val="E0D2BB"/>
            </a:solidFill>
            <a:prstDash val="solid"/>
          </a:ln>
        </p:spPr>
      </p:sp>
      <p:sp>
        <p:nvSpPr>
          <p:cNvPr id="8" name="stack1-dot"/>
          <p:cNvSpPr/>
          <p:nvPr/>
        </p:nvSpPr>
        <p:spPr>
          <a:xfrm>
            <a:off x="4480560" y="1572768"/>
            <a:ext cx="201168" cy="201168"/>
          </a:xfrm>
          <a:prstGeom prst="ellipse">
            <a:avLst/>
          </a:prstGeom>
          <a:solidFill>
            <a:srgbClr val="5F7330"/>
          </a:solidFill>
          <a:ln w="12700">
            <a:solidFill>
              <a:srgbClr val="5F7330"/>
            </a:solidFill>
            <a:prstDash val="solid"/>
          </a:ln>
        </p:spPr>
      </p:sp>
      <p:sp>
        <p:nvSpPr>
          <p:cNvPr id="9" name="stack1-title"/>
          <p:cNvSpPr txBox="1"/>
          <p:nvPr/>
        </p:nvSpPr>
        <p:spPr>
          <a:xfrm>
            <a:off x="4773168" y="1481328"/>
            <a:ext cx="292608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Quality gates</a:t>
            </a:r>
            <a:endParaRPr lang="en-US" sz="1700" dirty="0"/>
          </a:p>
        </p:txBody>
      </p:sp>
      <p:sp>
        <p:nvSpPr>
          <p:cNvPr id="10" name="stack1-body"/>
          <p:cNvSpPr txBox="1"/>
          <p:nvPr/>
        </p:nvSpPr>
        <p:spPr>
          <a:xfrm>
            <a:off x="4480560" y="1920240"/>
            <a:ext cx="3200400" cy="1554480"/>
          </a:xfrm>
          <a:prstGeom prst="rect">
            <a:avLst/>
          </a:prstGeom>
          <a:noFill/>
          <a:ln/>
        </p:spPr>
        <p:txBody>
          <a:bodyPr wrap="square" lIns="0" tIns="0" rIns="0" bIns="0" rtlCol="0" anchor="t"/>
          <a:lstStyle/>
          <a:p>
            <a:pPr indent="0" marL="0">
              <a:buNone/>
            </a:pPr>
            <a:r>
              <a:rPr lang="en-US" sz="1300" dirty="0">
                <a:solidFill>
                  <a:schemeClr val="tx2"/>
                </a:solidFill>
              </a:rPr>
              <a:t>pytest + coverage · Vitest + Testing Library · Ruff · ESLint · Prettier · Bandit · pip-audit · npm audit</a:t>
            </a:r>
            <a:endParaRPr lang="en-US" sz="1300" dirty="0"/>
          </a:p>
        </p:txBody>
      </p:sp>
      <p:sp>
        <p:nvSpPr>
          <p:cNvPr id="11" name="stack2-box"/>
          <p:cNvSpPr/>
          <p:nvPr/>
        </p:nvSpPr>
        <p:spPr>
          <a:xfrm>
            <a:off x="8046720" y="1371600"/>
            <a:ext cx="3566160" cy="2194560"/>
          </a:xfrm>
          <a:prstGeom prst="roundRect">
            <a:avLst>
              <a:gd name="adj" fmla="val 4167"/>
            </a:avLst>
          </a:prstGeom>
          <a:solidFill>
            <a:schemeClr val="bg1"/>
          </a:solidFill>
          <a:ln w="9525">
            <a:solidFill>
              <a:srgbClr val="E0D2BB"/>
            </a:solidFill>
            <a:prstDash val="solid"/>
          </a:ln>
        </p:spPr>
      </p:sp>
      <p:sp>
        <p:nvSpPr>
          <p:cNvPr id="12" name="stack2-dot"/>
          <p:cNvSpPr/>
          <p:nvPr/>
        </p:nvSpPr>
        <p:spPr>
          <a:xfrm>
            <a:off x="8229600" y="1572768"/>
            <a:ext cx="201168" cy="201168"/>
          </a:xfrm>
          <a:prstGeom prst="ellipse">
            <a:avLst/>
          </a:prstGeom>
          <a:solidFill>
            <a:srgbClr val="C48A0C"/>
          </a:solidFill>
          <a:ln w="12700">
            <a:solidFill>
              <a:srgbClr val="C48A0C"/>
            </a:solidFill>
            <a:prstDash val="solid"/>
          </a:ln>
        </p:spPr>
      </p:sp>
      <p:sp>
        <p:nvSpPr>
          <p:cNvPr id="13" name="stack2-title"/>
          <p:cNvSpPr txBox="1"/>
          <p:nvPr/>
        </p:nvSpPr>
        <p:spPr>
          <a:xfrm>
            <a:off x="8522208" y="1481328"/>
            <a:ext cx="292608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Containers</a:t>
            </a:r>
            <a:endParaRPr lang="en-US" sz="1700" dirty="0"/>
          </a:p>
        </p:txBody>
      </p:sp>
      <p:sp>
        <p:nvSpPr>
          <p:cNvPr id="14" name="stack2-body"/>
          <p:cNvSpPr txBox="1"/>
          <p:nvPr/>
        </p:nvSpPr>
        <p:spPr>
          <a:xfrm>
            <a:off x="8229600" y="1920240"/>
            <a:ext cx="3200400" cy="1554480"/>
          </a:xfrm>
          <a:prstGeom prst="rect">
            <a:avLst/>
          </a:prstGeom>
          <a:noFill/>
          <a:ln/>
        </p:spPr>
        <p:txBody>
          <a:bodyPr wrap="square" lIns="0" tIns="0" rIns="0" bIns="0" rtlCol="0" anchor="t"/>
          <a:lstStyle/>
          <a:p>
            <a:pPr indent="0" marL="0">
              <a:buNone/>
            </a:pPr>
            <a:r>
              <a:rPr lang="en-US" sz="1300" dirty="0">
                <a:solidFill>
                  <a:schemeClr val="tx2"/>
                </a:solidFill>
              </a:rPr>
              <a:t>Multi-stage Dockerfiles · non-root users · nginx-unprivileged · Docker Compose with health checks</a:t>
            </a:r>
            <a:endParaRPr lang="en-US" sz="1300" dirty="0"/>
          </a:p>
        </p:txBody>
      </p:sp>
      <p:sp>
        <p:nvSpPr>
          <p:cNvPr id="15" name="stack3-box"/>
          <p:cNvSpPr/>
          <p:nvPr/>
        </p:nvSpPr>
        <p:spPr>
          <a:xfrm>
            <a:off x="548640" y="3794760"/>
            <a:ext cx="3566160" cy="2194560"/>
          </a:xfrm>
          <a:prstGeom prst="roundRect">
            <a:avLst>
              <a:gd name="adj" fmla="val 4167"/>
            </a:avLst>
          </a:prstGeom>
          <a:solidFill>
            <a:schemeClr val="bg1"/>
          </a:solidFill>
          <a:ln w="9525">
            <a:solidFill>
              <a:srgbClr val="E0D2BB"/>
            </a:solidFill>
            <a:prstDash val="solid"/>
          </a:ln>
        </p:spPr>
      </p:sp>
      <p:sp>
        <p:nvSpPr>
          <p:cNvPr id="16" name="stack3-dot"/>
          <p:cNvSpPr/>
          <p:nvPr/>
        </p:nvSpPr>
        <p:spPr>
          <a:xfrm>
            <a:off x="731520" y="3995928"/>
            <a:ext cx="201168" cy="201168"/>
          </a:xfrm>
          <a:prstGeom prst="ellipse">
            <a:avLst/>
          </a:prstGeom>
          <a:solidFill>
            <a:srgbClr val="B8532D"/>
          </a:solidFill>
          <a:ln w="12700">
            <a:solidFill>
              <a:srgbClr val="B8532D"/>
            </a:solidFill>
            <a:prstDash val="solid"/>
          </a:ln>
        </p:spPr>
      </p:sp>
      <p:sp>
        <p:nvSpPr>
          <p:cNvPr id="17" name="stack3-title"/>
          <p:cNvSpPr txBox="1"/>
          <p:nvPr/>
        </p:nvSpPr>
        <p:spPr>
          <a:xfrm>
            <a:off x="1024128" y="3904488"/>
            <a:ext cx="292608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CI/CD and security</a:t>
            </a:r>
            <a:endParaRPr lang="en-US" sz="1700" dirty="0"/>
          </a:p>
        </p:txBody>
      </p:sp>
      <p:sp>
        <p:nvSpPr>
          <p:cNvPr id="18" name="stack3-body"/>
          <p:cNvSpPr txBox="1"/>
          <p:nvPr/>
        </p:nvSpPr>
        <p:spPr>
          <a:xfrm>
            <a:off x="731520" y="4343400"/>
            <a:ext cx="3200400" cy="1554480"/>
          </a:xfrm>
          <a:prstGeom prst="rect">
            <a:avLst/>
          </a:prstGeom>
          <a:noFill/>
          <a:ln/>
        </p:spPr>
        <p:txBody>
          <a:bodyPr wrap="square" lIns="0" tIns="0" rIns="0" bIns="0" rtlCol="0" anchor="t"/>
          <a:lstStyle/>
          <a:p>
            <a:pPr indent="0" marL="0">
              <a:buNone/>
            </a:pPr>
            <a:r>
              <a:rPr lang="en-US" sz="1300" dirty="0">
                <a:solidFill>
                  <a:schemeClr val="tx2"/>
                </a:solidFill>
              </a:rPr>
              <a:t>GitHub Actions · Trivy (images + IaC) · Gitleaks · CycloneDX SBOM · GHCR with commit-SHA tags · provenance</a:t>
            </a:r>
            <a:endParaRPr lang="en-US" sz="1300" dirty="0"/>
          </a:p>
        </p:txBody>
      </p:sp>
      <p:sp>
        <p:nvSpPr>
          <p:cNvPr id="19" name="stack4-box"/>
          <p:cNvSpPr/>
          <p:nvPr/>
        </p:nvSpPr>
        <p:spPr>
          <a:xfrm>
            <a:off x="4297680" y="3794760"/>
            <a:ext cx="3566160" cy="2194560"/>
          </a:xfrm>
          <a:prstGeom prst="roundRect">
            <a:avLst>
              <a:gd name="adj" fmla="val 4167"/>
            </a:avLst>
          </a:prstGeom>
          <a:solidFill>
            <a:schemeClr val="bg1"/>
          </a:solidFill>
          <a:ln w="9525">
            <a:solidFill>
              <a:srgbClr val="E0D2BB"/>
            </a:solidFill>
            <a:prstDash val="solid"/>
          </a:ln>
        </p:spPr>
      </p:sp>
      <p:sp>
        <p:nvSpPr>
          <p:cNvPr id="20" name="stack4-dot"/>
          <p:cNvSpPr/>
          <p:nvPr/>
        </p:nvSpPr>
        <p:spPr>
          <a:xfrm>
            <a:off x="4480560" y="3995928"/>
            <a:ext cx="201168" cy="201168"/>
          </a:xfrm>
          <a:prstGeom prst="ellipse">
            <a:avLst/>
          </a:prstGeom>
          <a:solidFill>
            <a:srgbClr val="5F7330"/>
          </a:solidFill>
          <a:ln w="12700">
            <a:solidFill>
              <a:srgbClr val="5F7330"/>
            </a:solidFill>
            <a:prstDash val="solid"/>
          </a:ln>
        </p:spPr>
      </p:sp>
      <p:sp>
        <p:nvSpPr>
          <p:cNvPr id="21" name="stack4-title"/>
          <p:cNvSpPr txBox="1"/>
          <p:nvPr/>
        </p:nvSpPr>
        <p:spPr>
          <a:xfrm>
            <a:off x="4773168" y="3904488"/>
            <a:ext cx="292608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Platform</a:t>
            </a:r>
            <a:endParaRPr lang="en-US" sz="1700" dirty="0"/>
          </a:p>
        </p:txBody>
      </p:sp>
      <p:sp>
        <p:nvSpPr>
          <p:cNvPr id="22" name="stack4-body"/>
          <p:cNvSpPr txBox="1"/>
          <p:nvPr/>
        </p:nvSpPr>
        <p:spPr>
          <a:xfrm>
            <a:off x="4480560" y="4343400"/>
            <a:ext cx="3200400" cy="1554480"/>
          </a:xfrm>
          <a:prstGeom prst="rect">
            <a:avLst/>
          </a:prstGeom>
          <a:noFill/>
          <a:ln/>
        </p:spPr>
        <p:txBody>
          <a:bodyPr wrap="square" lIns="0" tIns="0" rIns="0" bIns="0" rtlCol="0" anchor="t"/>
          <a:lstStyle/>
          <a:p>
            <a:pPr indent="0" marL="0">
              <a:buNone/>
            </a:pPr>
            <a:r>
              <a:rPr lang="en-US" sz="1300" dirty="0">
                <a:solidFill>
                  <a:schemeClr val="tx2"/>
                </a:solidFill>
              </a:rPr>
              <a:t>Terraform (AWS VPC + EKS) · kind · Helm · ingress-nginx · HPA + metrics-server · NetworkPolicy</a:t>
            </a:r>
            <a:endParaRPr lang="en-US" sz="1300" dirty="0"/>
          </a:p>
        </p:txBody>
      </p:sp>
      <p:sp>
        <p:nvSpPr>
          <p:cNvPr id="23" name="stack5-box"/>
          <p:cNvSpPr/>
          <p:nvPr/>
        </p:nvSpPr>
        <p:spPr>
          <a:xfrm>
            <a:off x="8046720" y="3794760"/>
            <a:ext cx="3566160" cy="2194560"/>
          </a:xfrm>
          <a:prstGeom prst="roundRect">
            <a:avLst>
              <a:gd name="adj" fmla="val 4167"/>
            </a:avLst>
          </a:prstGeom>
          <a:solidFill>
            <a:schemeClr val="bg1"/>
          </a:solidFill>
          <a:ln w="9525">
            <a:solidFill>
              <a:srgbClr val="E0D2BB"/>
            </a:solidFill>
            <a:prstDash val="solid"/>
          </a:ln>
        </p:spPr>
      </p:sp>
      <p:sp>
        <p:nvSpPr>
          <p:cNvPr id="24" name="stack5-dot"/>
          <p:cNvSpPr/>
          <p:nvPr/>
        </p:nvSpPr>
        <p:spPr>
          <a:xfrm>
            <a:off x="8229600" y="3995928"/>
            <a:ext cx="201168" cy="201168"/>
          </a:xfrm>
          <a:prstGeom prst="ellipse">
            <a:avLst/>
          </a:prstGeom>
          <a:solidFill>
            <a:srgbClr val="C48A0C"/>
          </a:solidFill>
          <a:ln w="12700">
            <a:solidFill>
              <a:srgbClr val="C48A0C"/>
            </a:solidFill>
            <a:prstDash val="solid"/>
          </a:ln>
        </p:spPr>
      </p:sp>
      <p:sp>
        <p:nvSpPr>
          <p:cNvPr id="25" name="stack5-title"/>
          <p:cNvSpPr txBox="1"/>
          <p:nvPr/>
        </p:nvSpPr>
        <p:spPr>
          <a:xfrm>
            <a:off x="8522208" y="3904488"/>
            <a:ext cx="292608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Operations</a:t>
            </a:r>
            <a:endParaRPr lang="en-US" sz="1700" dirty="0"/>
          </a:p>
        </p:txBody>
      </p:sp>
      <p:sp>
        <p:nvSpPr>
          <p:cNvPr id="26" name="stack5-body"/>
          <p:cNvSpPr txBox="1"/>
          <p:nvPr/>
        </p:nvSpPr>
        <p:spPr>
          <a:xfrm>
            <a:off x="8229600" y="4343400"/>
            <a:ext cx="3200400" cy="1554480"/>
          </a:xfrm>
          <a:prstGeom prst="rect">
            <a:avLst/>
          </a:prstGeom>
          <a:noFill/>
          <a:ln/>
        </p:spPr>
        <p:txBody>
          <a:bodyPr wrap="square" lIns="0" tIns="0" rIns="0" bIns="0" rtlCol="0" anchor="t"/>
          <a:lstStyle/>
          <a:p>
            <a:pPr indent="0" marL="0">
              <a:buNone/>
            </a:pPr>
            <a:r>
              <a:rPr lang="en-US" sz="1300" dirty="0">
                <a:solidFill>
                  <a:schemeClr val="tx2"/>
                </a:solidFill>
              </a:rPr>
              <a:t>Argo CD (GitOps) · Prometheus Operator · Grafana · JSON logs · five troubleshooting drills</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Runtime architecture on the local kind cluster</a:t>
            </a:r>
            <a:endParaRPr lang="en-US" sz="3400" dirty="0"/>
          </a:p>
        </p:txBody>
      </p:sp>
      <p:sp>
        <p:nvSpPr>
          <p:cNvPr id="3" name="arch-card"/>
          <p:cNvSpPr/>
          <p:nvPr/>
        </p:nvSpPr>
        <p:spPr>
          <a:xfrm>
            <a:off x="1626616" y="1234440"/>
            <a:ext cx="8908288" cy="5074920"/>
          </a:xfrm>
          <a:prstGeom prst="roundRect">
            <a:avLst>
              <a:gd name="adj" fmla="val 1441"/>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4" name="arch" descr="arch">    </p:cNvPr>
          <p:cNvPicPr>
            <a:picLocks noChangeAspect="1"/>
          </p:cNvPicPr>
          <p:nvPr/>
        </p:nvPicPr>
        <p:blipFill>
          <a:blip r:embed="rId1"/>
          <a:stretch>
            <a:fillRect/>
          </a:stretch>
        </p:blipFill>
        <p:spPr>
          <a:xfrm>
            <a:off x="1699768" y="1307592"/>
            <a:ext cx="8761984" cy="4928616"/>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Data model and REST API</a:t>
            </a:r>
            <a:endParaRPr lang="en-US" sz="3400" dirty="0"/>
          </a:p>
        </p:txBody>
      </p:sp>
      <p:sp>
        <p:nvSpPr>
          <p:cNvPr id="3" name="m1-box"/>
          <p:cNvSpPr/>
          <p:nvPr/>
        </p:nvSpPr>
        <p:spPr>
          <a:xfrm>
            <a:off x="548640" y="1325880"/>
            <a:ext cx="3931920" cy="1143000"/>
          </a:xfrm>
          <a:prstGeom prst="roundRect">
            <a:avLst>
              <a:gd name="adj" fmla="val 8000"/>
            </a:avLst>
          </a:prstGeom>
          <a:solidFill>
            <a:schemeClr val="bg1"/>
          </a:solidFill>
          <a:ln w="9525">
            <a:solidFill>
              <a:srgbClr val="E0D2BB"/>
            </a:solidFill>
            <a:prstDash val="solid"/>
          </a:ln>
        </p:spPr>
      </p:sp>
      <p:sp>
        <p:nvSpPr>
          <p:cNvPr id="4" name="m1-dot"/>
          <p:cNvSpPr/>
          <p:nvPr/>
        </p:nvSpPr>
        <p:spPr>
          <a:xfrm>
            <a:off x="731520" y="1527048"/>
            <a:ext cx="201168" cy="201168"/>
          </a:xfrm>
          <a:prstGeom prst="ellipse">
            <a:avLst/>
          </a:prstGeom>
          <a:solidFill>
            <a:srgbClr val="5F7330"/>
          </a:solidFill>
          <a:ln w="12700">
            <a:solidFill>
              <a:srgbClr val="5F7330"/>
            </a:solidFill>
            <a:prstDash val="solid"/>
          </a:ln>
        </p:spPr>
      </p:sp>
      <p:sp>
        <p:nvSpPr>
          <p:cNvPr id="5" name="m1-title"/>
          <p:cNvSpPr txBox="1"/>
          <p:nvPr/>
        </p:nvSpPr>
        <p:spPr>
          <a:xfrm>
            <a:off x="1024128" y="1435608"/>
            <a:ext cx="329184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donors</a:t>
            </a:r>
            <a:endParaRPr lang="en-US" sz="1700" dirty="0"/>
          </a:p>
        </p:txBody>
      </p:sp>
      <p:sp>
        <p:nvSpPr>
          <p:cNvPr id="6" name="m1-body"/>
          <p:cNvSpPr txBox="1"/>
          <p:nvPr/>
        </p:nvSpPr>
        <p:spPr>
          <a:xfrm>
            <a:off x="731520" y="1874520"/>
            <a:ext cx="3566160" cy="502920"/>
          </a:xfrm>
          <a:prstGeom prst="rect">
            <a:avLst/>
          </a:prstGeom>
          <a:noFill/>
          <a:ln/>
        </p:spPr>
        <p:txBody>
          <a:bodyPr wrap="square" lIns="0" tIns="0" rIns="0" bIns="0" rtlCol="0" anchor="t"/>
          <a:lstStyle/>
          <a:p>
            <a:pPr indent="0" marL="0">
              <a:buNone/>
            </a:pPr>
            <a:r>
              <a:rPr lang="en-US" sz="1300" dirty="0">
                <a:solidFill>
                  <a:schemeClr val="tx2"/>
                </a:solidFill>
              </a:rPr>
              <a:t>name (unique) · donor_type · contact_email · city</a:t>
            </a:r>
            <a:endParaRPr lang="en-US" sz="1300" dirty="0"/>
          </a:p>
        </p:txBody>
      </p:sp>
      <p:sp>
        <p:nvSpPr>
          <p:cNvPr id="7" name="m2-box"/>
          <p:cNvSpPr/>
          <p:nvPr/>
        </p:nvSpPr>
        <p:spPr>
          <a:xfrm>
            <a:off x="548640" y="2606040"/>
            <a:ext cx="3931920" cy="1325880"/>
          </a:xfrm>
          <a:prstGeom prst="roundRect">
            <a:avLst>
              <a:gd name="adj" fmla="val 6897"/>
            </a:avLst>
          </a:prstGeom>
          <a:solidFill>
            <a:schemeClr val="bg1"/>
          </a:solidFill>
          <a:ln w="9525">
            <a:solidFill>
              <a:srgbClr val="E0D2BB"/>
            </a:solidFill>
            <a:prstDash val="solid"/>
          </a:ln>
        </p:spPr>
      </p:sp>
      <p:sp>
        <p:nvSpPr>
          <p:cNvPr id="8" name="m2-dot"/>
          <p:cNvSpPr/>
          <p:nvPr/>
        </p:nvSpPr>
        <p:spPr>
          <a:xfrm>
            <a:off x="731520" y="2807208"/>
            <a:ext cx="201168" cy="201168"/>
          </a:xfrm>
          <a:prstGeom prst="ellipse">
            <a:avLst/>
          </a:prstGeom>
          <a:solidFill>
            <a:srgbClr val="B8532D"/>
          </a:solidFill>
          <a:ln w="12700">
            <a:solidFill>
              <a:srgbClr val="B8532D"/>
            </a:solidFill>
            <a:prstDash val="solid"/>
          </a:ln>
        </p:spPr>
      </p:sp>
      <p:sp>
        <p:nvSpPr>
          <p:cNvPr id="9" name="m2-title"/>
          <p:cNvSpPr txBox="1"/>
          <p:nvPr/>
        </p:nvSpPr>
        <p:spPr>
          <a:xfrm>
            <a:off x="1024128" y="2715768"/>
            <a:ext cx="329184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stock_items</a:t>
            </a:r>
            <a:endParaRPr lang="en-US" sz="1700" dirty="0"/>
          </a:p>
        </p:txBody>
      </p:sp>
      <p:sp>
        <p:nvSpPr>
          <p:cNvPr id="10" name="m2-body"/>
          <p:cNvSpPr txBox="1"/>
          <p:nvPr/>
        </p:nvSpPr>
        <p:spPr>
          <a:xfrm>
            <a:off x="731520" y="3154680"/>
            <a:ext cx="3566160" cy="685800"/>
          </a:xfrm>
          <a:prstGeom prst="rect">
            <a:avLst/>
          </a:prstGeom>
          <a:noFill/>
          <a:ln/>
        </p:spPr>
        <p:txBody>
          <a:bodyPr wrap="square" lIns="0" tIns="0" rIns="0" bIns="0" rtlCol="0" anchor="t"/>
          <a:lstStyle/>
          <a:p>
            <a:pPr indent="0" marL="0">
              <a:buNone/>
            </a:pPr>
            <a:r>
              <a:rPr lang="en-US" sz="1300" dirty="0">
                <a:solidFill>
                  <a:schemeClr val="tx2"/>
                </a:solidFill>
              </a:rPr>
              <a:t>name · category · quantity &gt;= 0 · unit · expiry_date · location · donor_id (SET NULL)</a:t>
            </a:r>
            <a:endParaRPr lang="en-US" sz="1300" dirty="0"/>
          </a:p>
        </p:txBody>
      </p:sp>
      <p:sp>
        <p:nvSpPr>
          <p:cNvPr id="11" name="m3-box"/>
          <p:cNvSpPr/>
          <p:nvPr/>
        </p:nvSpPr>
        <p:spPr>
          <a:xfrm>
            <a:off x="548640" y="4069080"/>
            <a:ext cx="3931920" cy="1417320"/>
          </a:xfrm>
          <a:prstGeom prst="roundRect">
            <a:avLst>
              <a:gd name="adj" fmla="val 6452"/>
            </a:avLst>
          </a:prstGeom>
          <a:solidFill>
            <a:schemeClr val="bg1"/>
          </a:solidFill>
          <a:ln w="9525">
            <a:solidFill>
              <a:srgbClr val="E0D2BB"/>
            </a:solidFill>
            <a:prstDash val="solid"/>
          </a:ln>
        </p:spPr>
      </p:sp>
      <p:sp>
        <p:nvSpPr>
          <p:cNvPr id="12" name="m3-dot"/>
          <p:cNvSpPr/>
          <p:nvPr/>
        </p:nvSpPr>
        <p:spPr>
          <a:xfrm>
            <a:off x="731520" y="4270248"/>
            <a:ext cx="201168" cy="201168"/>
          </a:xfrm>
          <a:prstGeom prst="ellipse">
            <a:avLst/>
          </a:prstGeom>
          <a:solidFill>
            <a:srgbClr val="C48A0C"/>
          </a:solidFill>
          <a:ln w="12700">
            <a:solidFill>
              <a:srgbClr val="C48A0C"/>
            </a:solidFill>
            <a:prstDash val="solid"/>
          </a:ln>
        </p:spPr>
      </p:sp>
      <p:sp>
        <p:nvSpPr>
          <p:cNvPr id="13" name="m3-title"/>
          <p:cNvSpPr txBox="1"/>
          <p:nvPr/>
        </p:nvSpPr>
        <p:spPr>
          <a:xfrm>
            <a:off x="1024128" y="4178808"/>
            <a:ext cx="329184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distributions</a:t>
            </a:r>
            <a:endParaRPr lang="en-US" sz="1700" dirty="0"/>
          </a:p>
        </p:txBody>
      </p:sp>
      <p:sp>
        <p:nvSpPr>
          <p:cNvPr id="14" name="m3-body"/>
          <p:cNvSpPr txBox="1"/>
          <p:nvPr/>
        </p:nvSpPr>
        <p:spPr>
          <a:xfrm>
            <a:off x="731520" y="4617720"/>
            <a:ext cx="3566160" cy="777240"/>
          </a:xfrm>
          <a:prstGeom prst="rect">
            <a:avLst/>
          </a:prstGeom>
          <a:noFill/>
          <a:ln/>
        </p:spPr>
        <p:txBody>
          <a:bodyPr wrap="square" lIns="0" tIns="0" rIns="0" bIns="0" rtlCol="0" anchor="t"/>
          <a:lstStyle/>
          <a:p>
            <a:pPr indent="0" marL="0">
              <a:buNone/>
            </a:pPr>
            <a:r>
              <a:rPr lang="en-US" sz="1300" dirty="0">
                <a:solidFill>
                  <a:schemeClr val="tx2"/>
                </a:solidFill>
              </a:rPr>
              <a:t>item_id · quantity &gt; 0 · recipient · distributed_on; creating one decrements stock under a row lock</a:t>
            </a:r>
            <a:endParaRPr lang="en-US" sz="1300" dirty="0"/>
          </a:p>
        </p:txBody>
      </p:sp>
      <p:sp>
        <p:nvSpPr>
          <p:cNvPr id="15" name="Text 13"/>
          <p:cNvSpPr txBox="1"/>
          <p:nvPr/>
        </p:nvSpPr>
        <p:spPr>
          <a:xfrm>
            <a:off x="548640" y="5623560"/>
            <a:ext cx="3931920" cy="320040"/>
          </a:xfrm>
          <a:prstGeom prst="rect">
            <a:avLst/>
          </a:prstGeom>
          <a:noFill/>
          <a:ln/>
        </p:spPr>
        <p:txBody>
          <a:bodyPr wrap="square" lIns="0" tIns="0" rIns="0" bIns="0" rtlCol="0" anchor="ctr"/>
          <a:lstStyle/>
          <a:p>
            <a:pPr indent="0" marL="0">
              <a:buNone/>
            </a:pPr>
            <a:r>
              <a:rPr lang="en-US" sz="1200" i="1" dirty="0">
                <a:solidFill>
                  <a:schemeClr val="tx2"/>
                </a:solidFill>
              </a:rPr>
              <a:t>Created by Alembic migration 0001_initial_schema</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54880" y="1325880"/>
          <a:ext cx="6858000" cy="914400"/>
        </p:xfrm>
        <a:graphic>
          <a:graphicData uri="http://schemas.openxmlformats.org/drawingml/2006/table">
            <a:tbl>
              <a:tblPr/>
              <a:tblGrid>
                <a:gridCol w="1600200"/>
                <a:gridCol w="2148840"/>
                <a:gridCol w="3108960"/>
              </a:tblGrid>
              <a:tr h="457200">
                <a:tc>
                  <a:txBody>
                    <a:bodyPr/>
                    <a:lstStyle/>
                    <a:p>
                      <a:pPr indent="0" marL="0">
                        <a:buNone/>
                      </a:pPr>
                      <a:r>
                        <a:rPr lang="en-US" sz="1250" b="1" dirty="0">
                          <a:solidFill>
                            <a:srgbClr val="FBF6EC"/>
                          </a:solidFill>
                        </a:rPr>
                        <a:t>Method</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2B211A"/>
                    </a:solidFill>
                  </a:tcPr>
                </a:tc>
                <a:tc>
                  <a:txBody>
                    <a:bodyPr/>
                    <a:lstStyle/>
                    <a:p>
                      <a:pPr indent="0" marL="0">
                        <a:buNone/>
                      </a:pPr>
                      <a:r>
                        <a:rPr lang="en-US" sz="1250" b="1" dirty="0">
                          <a:solidFill>
                            <a:srgbClr val="FBF6EC"/>
                          </a:solidFill>
                        </a:rPr>
                        <a:t>Path</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2B211A"/>
                    </a:solidFill>
                  </a:tcPr>
                </a:tc>
                <a:tc>
                  <a:txBody>
                    <a:bodyPr/>
                    <a:lstStyle/>
                    <a:p>
                      <a:pPr indent="0" marL="0">
                        <a:buNone/>
                      </a:pPr>
                      <a:r>
                        <a:rPr lang="en-US" sz="1250" b="1" dirty="0">
                          <a:solidFill>
                            <a:srgbClr val="FBF6EC"/>
                          </a:solidFill>
                        </a:rPr>
                        <a:t>Purpose</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2B211A"/>
                    </a:solidFill>
                  </a:tcPr>
                </a:tc>
              </a:tr>
              <a:tr h="457200">
                <a:tc>
                  <a:txBody>
                    <a:bodyPr/>
                    <a:lstStyle/>
                    <a:p>
                      <a:pPr indent="0" marL="0">
                        <a:buNone/>
                      </a:pPr>
                      <a:r>
                        <a:rPr lang="en-US" sz="1250" dirty="0">
                          <a:solidFill>
                            <a:srgbClr val="2B211A"/>
                          </a:solidFill>
                        </a:rPr>
                        <a:t>GET</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/api/items</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list; filter by category, status, search</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B211A"/>
                          </a:solidFill>
                        </a:rPr>
                        <a:t>GET</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/api/items/stats</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KPIs: units, expiring, expired, hand-outs</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B211A"/>
                          </a:solidFill>
                        </a:rPr>
                        <a:t>GET · PUT · DELETE</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/api/items/{id}</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read, partial update, remove (404 if missing)</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B211A"/>
                          </a:solidFill>
                        </a:rPr>
                        <a:t>POST</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/api/items</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create, 201; 422 on invalid input</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B211A"/>
                          </a:solidFill>
                        </a:rPr>
                        <a:t>GET · POST</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/api/donors</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list with item counts; create (409 on duplicate)</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B211A"/>
                          </a:solidFill>
                        </a:rPr>
                        <a:t>GET · PUT · DELETE</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/api/donors/{id}</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read, update, delete (items kept)</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B211A"/>
                          </a:solidFill>
                        </a:rPr>
                        <a:t>GET · POST</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/api/distributions</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history; hand out (409 if short or expired)</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B211A"/>
                          </a:solidFill>
                        </a:rPr>
                        <a:t>GET</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/health · /ready · /metrics</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250" dirty="0">
                          <a:solidFill>
                            <a:srgbClr val="2B211A"/>
                          </a:solidFill>
                        </a:rPr>
                        <a:t>liveness, DB readiness, Prometheus</a:t>
                      </a:r>
                      <a:endParaRPr lang="en-US" sz="1250" dirty="0"/>
                    </a:p>
                  </a:txBody>
                  <a:tcPr marL="54864" marR="54864" marT="54864" marB="54864"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Tests are the first gate: nothing builds until they pass</a:t>
            </a:r>
            <a:endParaRPr lang="en-US" sz="3400" dirty="0"/>
          </a:p>
        </p:txBody>
      </p:sp>
      <p:sp>
        <p:nvSpPr>
          <p:cNvPr id="3" name="st1-value"/>
          <p:cNvSpPr txBox="1"/>
          <p:nvPr/>
        </p:nvSpPr>
        <p:spPr>
          <a:xfrm>
            <a:off x="548640" y="1371600"/>
            <a:ext cx="237744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31</a:t>
            </a:r>
            <a:endParaRPr lang="en-US" sz="4000" dirty="0"/>
          </a:p>
        </p:txBody>
      </p:sp>
      <p:sp>
        <p:nvSpPr>
          <p:cNvPr id="4" name="st1-label"/>
          <p:cNvSpPr txBox="1"/>
          <p:nvPr/>
        </p:nvSpPr>
        <p:spPr>
          <a:xfrm>
            <a:off x="548640" y="2057400"/>
            <a:ext cx="2377440" cy="457200"/>
          </a:xfrm>
          <a:prstGeom prst="rect">
            <a:avLst/>
          </a:prstGeom>
          <a:noFill/>
          <a:ln/>
        </p:spPr>
        <p:txBody>
          <a:bodyPr wrap="square" lIns="0" tIns="0" rIns="0" bIns="0" rtlCol="0" anchor="t"/>
          <a:lstStyle/>
          <a:p>
            <a:pPr indent="0" marL="0">
              <a:buNone/>
            </a:pPr>
            <a:r>
              <a:rPr lang="en-US" sz="1300" dirty="0">
                <a:solidFill>
                  <a:schemeClr val="tx2"/>
                </a:solidFill>
              </a:rPr>
              <a:t>backend tests, pytest -v</a:t>
            </a:r>
            <a:endParaRPr lang="en-US" sz="1300" dirty="0"/>
          </a:p>
        </p:txBody>
      </p:sp>
      <p:sp>
        <p:nvSpPr>
          <p:cNvPr id="5" name="st2-value"/>
          <p:cNvSpPr txBox="1"/>
          <p:nvPr/>
        </p:nvSpPr>
        <p:spPr>
          <a:xfrm>
            <a:off x="3017520" y="1371600"/>
            <a:ext cx="265176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96%</a:t>
            </a:r>
            <a:endParaRPr lang="en-US" sz="4000" dirty="0"/>
          </a:p>
        </p:txBody>
      </p:sp>
      <p:sp>
        <p:nvSpPr>
          <p:cNvPr id="6" name="st2-label"/>
          <p:cNvSpPr txBox="1"/>
          <p:nvPr/>
        </p:nvSpPr>
        <p:spPr>
          <a:xfrm>
            <a:off x="3017520" y="2057400"/>
            <a:ext cx="2651760" cy="457200"/>
          </a:xfrm>
          <a:prstGeom prst="rect">
            <a:avLst/>
          </a:prstGeom>
          <a:noFill/>
          <a:ln/>
        </p:spPr>
        <p:txBody>
          <a:bodyPr wrap="square" lIns="0" tIns="0" rIns="0" bIns="0" rtlCol="0" anchor="t"/>
          <a:lstStyle/>
          <a:p>
            <a:pPr indent="0" marL="0">
              <a:buNone/>
            </a:pPr>
            <a:r>
              <a:rPr lang="en-US" sz="1300" dirty="0">
                <a:solidFill>
                  <a:schemeClr val="tx2"/>
                </a:solidFill>
              </a:rPr>
              <a:t>API line coverage (CI floor: 85%)</a:t>
            </a:r>
            <a:endParaRPr lang="en-US" sz="1300" dirty="0"/>
          </a:p>
        </p:txBody>
      </p:sp>
      <p:sp>
        <p:nvSpPr>
          <p:cNvPr id="7" name="st3-value"/>
          <p:cNvSpPr txBox="1"/>
          <p:nvPr/>
        </p:nvSpPr>
        <p:spPr>
          <a:xfrm>
            <a:off x="548640" y="2743200"/>
            <a:ext cx="2377440" cy="68580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10</a:t>
            </a:r>
            <a:endParaRPr lang="en-US" sz="4000" dirty="0"/>
          </a:p>
        </p:txBody>
      </p:sp>
      <p:sp>
        <p:nvSpPr>
          <p:cNvPr id="8" name="st3-label"/>
          <p:cNvSpPr txBox="1"/>
          <p:nvPr/>
        </p:nvSpPr>
        <p:spPr>
          <a:xfrm>
            <a:off x="548640" y="3429000"/>
            <a:ext cx="2377440" cy="457200"/>
          </a:xfrm>
          <a:prstGeom prst="rect">
            <a:avLst/>
          </a:prstGeom>
          <a:noFill/>
          <a:ln/>
        </p:spPr>
        <p:txBody>
          <a:bodyPr wrap="square" lIns="0" tIns="0" rIns="0" bIns="0" rtlCol="0" anchor="t"/>
          <a:lstStyle/>
          <a:p>
            <a:pPr indent="0" marL="0">
              <a:buNone/>
            </a:pPr>
            <a:r>
              <a:rPr lang="en-US" sz="1300" dirty="0">
                <a:solidFill>
                  <a:schemeClr val="tx2"/>
                </a:solidFill>
              </a:rPr>
              <a:t>frontend tests with Vitest</a:t>
            </a:r>
            <a:endParaRPr lang="en-US" sz="1300" dirty="0"/>
          </a:p>
        </p:txBody>
      </p:sp>
      <p:sp>
        <p:nvSpPr>
          <p:cNvPr id="9" name="st4-value"/>
          <p:cNvSpPr txBox="1"/>
          <p:nvPr/>
        </p:nvSpPr>
        <p:spPr>
          <a:xfrm>
            <a:off x="3017520" y="2743200"/>
            <a:ext cx="26517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10" name="st4-label"/>
          <p:cNvSpPr txBox="1"/>
          <p:nvPr/>
        </p:nvSpPr>
        <p:spPr>
          <a:xfrm>
            <a:off x="3017520" y="3429000"/>
            <a:ext cx="2651760" cy="457200"/>
          </a:xfrm>
          <a:prstGeom prst="rect">
            <a:avLst/>
          </a:prstGeom>
          <a:noFill/>
          <a:ln/>
        </p:spPr>
        <p:txBody>
          <a:bodyPr wrap="square" lIns="0" tIns="0" rIns="0" bIns="0" rtlCol="0" anchor="t"/>
          <a:lstStyle/>
          <a:p>
            <a:pPr indent="0" marL="0">
              <a:buNone/>
            </a:pPr>
            <a:r>
              <a:rPr lang="en-US" sz="1300" dirty="0">
                <a:solidFill>
                  <a:schemeClr val="tx2"/>
                </a:solidFill>
              </a:rPr>
              <a:t>findings: Ruff, Bandit, pip-audit, npm audit</a:t>
            </a:r>
            <a:endParaRPr lang="en-US" sz="1300" dirty="0"/>
          </a:p>
        </p:txBody>
      </p:sp>
      <p:sp>
        <p:nvSpPr>
          <p:cNvPr id="11" name="test-bullets"/>
          <p:cNvSpPr txBox="1"/>
          <p:nvPr/>
        </p:nvSpPr>
        <p:spPr>
          <a:xfrm>
            <a:off x="548640" y="4160520"/>
            <a:ext cx="5120640" cy="20116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Tests run against a throw-away SQLite database built by the real Alembic migrations, never the Compose or cluster PostgreSQL</a:t>
            </a:r>
            <a:endParaRPr lang="en-US" sz="1400" dirty="0"/>
          </a:p>
          <a:p>
            <a:pPr marL="203200" indent="-203200">
              <a:spcAft>
                <a:spcPts val="600"/>
              </a:spcAft>
              <a:buSzPct val="100000"/>
              <a:buChar char="•"/>
            </a:pPr>
            <a:r>
              <a:rPr lang="en-US" sz="1400" dirty="0">
                <a:solidFill>
                  <a:schemeClr val="tx1"/>
                </a:solidFill>
              </a:rPr>
              <a:t>Cover success, validation (422), missing records (404), conflicts (409), readiness failure and the /metrics format</a:t>
            </a:r>
            <a:endParaRPr lang="en-US" sz="1400" dirty="0"/>
          </a:p>
        </p:txBody>
      </p:sp>
      <p:sp>
        <p:nvSpPr>
          <p:cNvPr id="12" name="pytest-card"/>
          <p:cNvSpPr/>
          <p:nvPr/>
        </p:nvSpPr>
        <p:spPr>
          <a:xfrm>
            <a:off x="6561911" y="1280160"/>
            <a:ext cx="4524099" cy="4983480"/>
          </a:xfrm>
          <a:prstGeom prst="roundRect">
            <a:avLst>
              <a:gd name="adj" fmla="val 1617"/>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13" name="pytest" descr="pytest -v: 31 passed (real output)">    </p:cNvPr>
          <p:cNvPicPr>
            <a:picLocks noChangeAspect="1"/>
          </p:cNvPicPr>
          <p:nvPr/>
        </p:nvPicPr>
        <p:blipFill>
          <a:blip r:embed="rId1"/>
          <a:stretch>
            <a:fillRect/>
          </a:stretch>
        </p:blipFill>
        <p:spPr>
          <a:xfrm>
            <a:off x="6635063" y="1353312"/>
            <a:ext cx="4377795" cy="4544568"/>
          </a:xfrm>
          <a:prstGeom prst="rect">
            <a:avLst/>
          </a:prstGeom>
        </p:spPr>
      </p:pic>
      <p:sp>
        <p:nvSpPr>
          <p:cNvPr id="14" name="pytest-caption"/>
          <p:cNvSpPr txBox="1"/>
          <p:nvPr/>
        </p:nvSpPr>
        <p:spPr>
          <a:xfrm>
            <a:off x="6635063" y="5934456"/>
            <a:ext cx="4377795" cy="256032"/>
          </a:xfrm>
          <a:prstGeom prst="rect">
            <a:avLst/>
          </a:prstGeom>
          <a:noFill/>
          <a:ln/>
        </p:spPr>
        <p:txBody>
          <a:bodyPr wrap="square" lIns="0" tIns="0" rIns="0" bIns="0" rtlCol="0" anchor="ctr"/>
          <a:lstStyle/>
          <a:p>
            <a:pPr indent="0" marL="0">
              <a:buNone/>
            </a:pPr>
            <a:r>
              <a:rPr lang="en-US" sz="1050" dirty="0">
                <a:solidFill>
                  <a:schemeClr val="tx2"/>
                </a:solidFill>
              </a:rPr>
              <a:t>pytest -v: 31 passed (real output)</a:t>
            </a:r>
            <a:endParaRPr lang="en-US" sz="10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Containers: multi-stage, non-root, one command to run</a:t>
            </a:r>
            <a:endParaRPr lang="en-US" sz="3400" dirty="0"/>
          </a:p>
        </p:txBody>
      </p:sp>
      <p:sp>
        <p:nvSpPr>
          <p:cNvPr id="3" name="d1-value"/>
          <p:cNvSpPr txBox="1"/>
          <p:nvPr/>
        </p:nvSpPr>
        <p:spPr>
          <a:xfrm>
            <a:off x="548640" y="1371600"/>
            <a:ext cx="274320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uid 10001</a:t>
            </a:r>
            <a:endParaRPr lang="en-US" sz="4000" dirty="0"/>
          </a:p>
        </p:txBody>
      </p:sp>
      <p:sp>
        <p:nvSpPr>
          <p:cNvPr id="4" name="d1-label"/>
          <p:cNvSpPr txBox="1"/>
          <p:nvPr/>
        </p:nvSpPr>
        <p:spPr>
          <a:xfrm>
            <a:off x="548640" y="2057400"/>
            <a:ext cx="2743200" cy="457200"/>
          </a:xfrm>
          <a:prstGeom prst="rect">
            <a:avLst/>
          </a:prstGeom>
          <a:noFill/>
          <a:ln/>
        </p:spPr>
        <p:txBody>
          <a:bodyPr wrap="square" lIns="0" tIns="0" rIns="0" bIns="0" rtlCol="0" anchor="t"/>
          <a:lstStyle/>
          <a:p>
            <a:pPr indent="0" marL="0">
              <a:buNone/>
            </a:pPr>
            <a:r>
              <a:rPr lang="en-US" sz="1300" dirty="0">
                <a:solidFill>
                  <a:schemeClr val="tx2"/>
                </a:solidFill>
              </a:rPr>
              <a:t>backend runs as pantrix</a:t>
            </a:r>
            <a:endParaRPr lang="en-US" sz="1300" dirty="0"/>
          </a:p>
        </p:txBody>
      </p:sp>
      <p:sp>
        <p:nvSpPr>
          <p:cNvPr id="5" name="d2-value"/>
          <p:cNvSpPr txBox="1"/>
          <p:nvPr/>
        </p:nvSpPr>
        <p:spPr>
          <a:xfrm>
            <a:off x="3383280" y="1371600"/>
            <a:ext cx="23774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uid 101</a:t>
            </a:r>
            <a:endParaRPr lang="en-US" sz="4000" dirty="0"/>
          </a:p>
        </p:txBody>
      </p:sp>
      <p:sp>
        <p:nvSpPr>
          <p:cNvPr id="6" name="d2-label"/>
          <p:cNvSpPr txBox="1"/>
          <p:nvPr/>
        </p:nvSpPr>
        <p:spPr>
          <a:xfrm>
            <a:off x="3383280" y="2057400"/>
            <a:ext cx="2377440" cy="457200"/>
          </a:xfrm>
          <a:prstGeom prst="rect">
            <a:avLst/>
          </a:prstGeom>
          <a:noFill/>
          <a:ln/>
        </p:spPr>
        <p:txBody>
          <a:bodyPr wrap="square" lIns="0" tIns="0" rIns="0" bIns="0" rtlCol="0" anchor="t"/>
          <a:lstStyle/>
          <a:p>
            <a:pPr indent="0" marL="0">
              <a:buNone/>
            </a:pPr>
            <a:r>
              <a:rPr lang="en-US" sz="1300" dirty="0">
                <a:solidFill>
                  <a:schemeClr val="tx2"/>
                </a:solidFill>
              </a:rPr>
              <a:t>frontend runs as nginx</a:t>
            </a:r>
            <a:endParaRPr lang="en-US" sz="1300" dirty="0"/>
          </a:p>
        </p:txBody>
      </p:sp>
      <p:sp>
        <p:nvSpPr>
          <p:cNvPr id="7" name="d3-value"/>
          <p:cNvSpPr txBox="1"/>
          <p:nvPr/>
        </p:nvSpPr>
        <p:spPr>
          <a:xfrm>
            <a:off x="548640" y="2743200"/>
            <a:ext cx="5212080" cy="68580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311 / 114 MB</a:t>
            </a:r>
            <a:endParaRPr lang="en-US" sz="4000" dirty="0"/>
          </a:p>
        </p:txBody>
      </p:sp>
      <p:sp>
        <p:nvSpPr>
          <p:cNvPr id="8" name="d3-label"/>
          <p:cNvSpPr txBox="1"/>
          <p:nvPr/>
        </p:nvSpPr>
        <p:spPr>
          <a:xfrm>
            <a:off x="548640" y="3429000"/>
            <a:ext cx="5212080" cy="457200"/>
          </a:xfrm>
          <a:prstGeom prst="rect">
            <a:avLst/>
          </a:prstGeom>
          <a:noFill/>
          <a:ln/>
        </p:spPr>
        <p:txBody>
          <a:bodyPr wrap="square" lIns="0" tIns="0" rIns="0" bIns="0" rtlCol="0" anchor="t"/>
          <a:lstStyle/>
          <a:p>
            <a:pPr indent="0" marL="0">
              <a:buNone/>
            </a:pPr>
            <a:r>
              <a:rPr lang="en-US" sz="1300" dirty="0">
                <a:solidFill>
                  <a:schemeClr val="tx2"/>
                </a:solidFill>
              </a:rPr>
              <a:t>backend / frontend image size</a:t>
            </a:r>
            <a:endParaRPr lang="en-US" sz="1300" dirty="0"/>
          </a:p>
        </p:txBody>
      </p:sp>
      <p:sp>
        <p:nvSpPr>
          <p:cNvPr id="9" name="docker-bullets"/>
          <p:cNvSpPr txBox="1"/>
          <p:nvPr/>
        </p:nvSpPr>
        <p:spPr>
          <a:xfrm>
            <a:off x="548640" y="4160520"/>
            <a:ext cx="5212080" cy="21031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Backend: build stage resolves a virtualenv; runtime has no pip, no compiler, migrates then serves</a:t>
            </a:r>
            <a:endParaRPr lang="en-US" sz="1400" dirty="0"/>
          </a:p>
          <a:p>
            <a:pPr marL="203200" indent="-203200">
              <a:spcAft>
                <a:spcPts val="600"/>
              </a:spcAft>
              <a:buSzPct val="100000"/>
              <a:buChar char="•"/>
            </a:pPr>
            <a:r>
              <a:rPr lang="en-US" sz="1400" dirty="0">
                <a:solidFill>
                  <a:schemeClr val="tx1"/>
                </a:solidFill>
              </a:rPr>
              <a:t>Frontend: Node build stage, then nginx-unprivileged on 8080 proxying /api</a:t>
            </a:r>
            <a:endParaRPr lang="en-US" sz="1400" dirty="0"/>
          </a:p>
          <a:p>
            <a:pPr marL="203200" indent="-203200">
              <a:spcAft>
                <a:spcPts val="600"/>
              </a:spcAft>
              <a:buSzPct val="100000"/>
              <a:buChar char="•"/>
            </a:pPr>
            <a:r>
              <a:rPr lang="en-US" sz="1400" dirty="0">
                <a:solidFill>
                  <a:schemeClr val="tx1"/>
                </a:solidFill>
              </a:rPr>
              <a:t>docker compose up --build: PostgreSQL, API and UI with health checks, a named volume and dropped capabilities</a:t>
            </a:r>
            <a:endParaRPr lang="en-US" sz="1400" dirty="0"/>
          </a:p>
        </p:txBody>
      </p:sp>
      <p:sp>
        <p:nvSpPr>
          <p:cNvPr id="10" name="nonroot-card"/>
          <p:cNvSpPr/>
          <p:nvPr/>
        </p:nvSpPr>
        <p:spPr>
          <a:xfrm>
            <a:off x="6380203" y="1280160"/>
            <a:ext cx="4887514" cy="2697480"/>
          </a:xfrm>
          <a:prstGeom prst="roundRect">
            <a:avLst>
              <a:gd name="adj" fmla="val 2712"/>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11" name="nonroot" descr="Image user and PID 1 user inside both containers">    </p:cNvPr>
          <p:cNvPicPr>
            <a:picLocks noChangeAspect="1"/>
          </p:cNvPicPr>
          <p:nvPr/>
        </p:nvPicPr>
        <p:blipFill>
          <a:blip r:embed="rId1"/>
          <a:stretch>
            <a:fillRect/>
          </a:stretch>
        </p:blipFill>
        <p:spPr>
          <a:xfrm>
            <a:off x="6453355" y="1353312"/>
            <a:ext cx="4741210" cy="2258568"/>
          </a:xfrm>
          <a:prstGeom prst="rect">
            <a:avLst/>
          </a:prstGeom>
        </p:spPr>
      </p:pic>
      <p:sp>
        <p:nvSpPr>
          <p:cNvPr id="12" name="nonroot-caption"/>
          <p:cNvSpPr txBox="1"/>
          <p:nvPr/>
        </p:nvSpPr>
        <p:spPr>
          <a:xfrm>
            <a:off x="6453355" y="3648456"/>
            <a:ext cx="4741210" cy="256032"/>
          </a:xfrm>
          <a:prstGeom prst="rect">
            <a:avLst/>
          </a:prstGeom>
          <a:noFill/>
          <a:ln/>
        </p:spPr>
        <p:txBody>
          <a:bodyPr wrap="square" lIns="0" tIns="0" rIns="0" bIns="0" rtlCol="0" anchor="ctr"/>
          <a:lstStyle/>
          <a:p>
            <a:pPr indent="0" marL="0">
              <a:buNone/>
            </a:pPr>
            <a:r>
              <a:rPr lang="en-US" sz="1050" dirty="0">
                <a:solidFill>
                  <a:schemeClr val="tx2"/>
                </a:solidFill>
              </a:rPr>
              <a:t>Image user and PID 1 user inside both containers</a:t>
            </a:r>
            <a:endParaRPr lang="en-US" sz="1050" dirty="0"/>
          </a:p>
        </p:txBody>
      </p:sp>
      <p:sp>
        <p:nvSpPr>
          <p:cNvPr id="13" name="compose-ps-card"/>
          <p:cNvSpPr/>
          <p:nvPr/>
        </p:nvSpPr>
        <p:spPr>
          <a:xfrm>
            <a:off x="6144687" y="4069080"/>
            <a:ext cx="5358547" cy="2194560"/>
          </a:xfrm>
          <a:prstGeom prst="roundRect">
            <a:avLst>
              <a:gd name="adj" fmla="val 3333"/>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14" name="compose-ps" descr="All three Compose services healthy">    </p:cNvPr>
          <p:cNvPicPr>
            <a:picLocks noChangeAspect="1"/>
          </p:cNvPicPr>
          <p:nvPr/>
        </p:nvPicPr>
        <p:blipFill>
          <a:blip r:embed="rId2"/>
          <a:stretch>
            <a:fillRect/>
          </a:stretch>
        </p:blipFill>
        <p:spPr>
          <a:xfrm>
            <a:off x="6217839" y="4142232"/>
            <a:ext cx="5212243" cy="1755648"/>
          </a:xfrm>
          <a:prstGeom prst="rect">
            <a:avLst/>
          </a:prstGeom>
        </p:spPr>
      </p:pic>
      <p:sp>
        <p:nvSpPr>
          <p:cNvPr id="15" name="compose-ps-caption"/>
          <p:cNvSpPr txBox="1"/>
          <p:nvPr/>
        </p:nvSpPr>
        <p:spPr>
          <a:xfrm>
            <a:off x="6217839" y="5934456"/>
            <a:ext cx="5212243" cy="256032"/>
          </a:xfrm>
          <a:prstGeom prst="rect">
            <a:avLst/>
          </a:prstGeom>
          <a:noFill/>
          <a:ln/>
        </p:spPr>
        <p:txBody>
          <a:bodyPr wrap="square" lIns="0" tIns="0" rIns="0" bIns="0" rtlCol="0" anchor="ctr"/>
          <a:lstStyle/>
          <a:p>
            <a:pPr indent="0" marL="0">
              <a:buNone/>
            </a:pPr>
            <a:r>
              <a:rPr lang="en-US" sz="1050" dirty="0">
                <a:solidFill>
                  <a:schemeClr val="tx2"/>
                </a:solidFill>
              </a:rPr>
              <a:t>All three Compose services healthy</a:t>
            </a:r>
            <a:endParaRPr lang="en-US" sz="10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CI/CD: gates first, then build, scan, publish by SHA</a:t>
            </a:r>
            <a:endParaRPr lang="en-US" sz="3400" dirty="0"/>
          </a:p>
        </p:txBody>
      </p:sp>
      <p:sp>
        <p:nvSpPr>
          <p:cNvPr id="3" name="cicd-card"/>
          <p:cNvSpPr/>
          <p:nvPr/>
        </p:nvSpPr>
        <p:spPr>
          <a:xfrm>
            <a:off x="1626616" y="1234440"/>
            <a:ext cx="8908288" cy="5074920"/>
          </a:xfrm>
          <a:prstGeom prst="roundRect">
            <a:avLst>
              <a:gd name="adj" fmla="val 1441"/>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4" name="cicd" descr="cicd">    </p:cNvPr>
          <p:cNvPicPr>
            <a:picLocks noChangeAspect="1"/>
          </p:cNvPicPr>
          <p:nvPr/>
        </p:nvPicPr>
        <p:blipFill>
          <a:blip r:embed="rId1"/>
          <a:stretch>
            <a:fillRect/>
          </a:stretch>
        </p:blipFill>
        <p:spPr>
          <a:xfrm>
            <a:off x="1699768" y="1307592"/>
            <a:ext cx="8761984" cy="4928616"/>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DevSecOps: Trivy found real issues, and we fixed them</a:t>
            </a:r>
            <a:endParaRPr lang="en-US" sz="3400" dirty="0"/>
          </a:p>
        </p:txBody>
      </p:sp>
      <p:sp>
        <p:nvSpPr>
          <p:cNvPr id="3" name="trivy-before-card"/>
          <p:cNvSpPr/>
          <p:nvPr/>
        </p:nvSpPr>
        <p:spPr>
          <a:xfrm>
            <a:off x="591424" y="1280160"/>
            <a:ext cx="5949471" cy="3154680"/>
          </a:xfrm>
          <a:prstGeom prst="roundRect">
            <a:avLst>
              <a:gd name="adj" fmla="val 2319"/>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4" name="trivy-before" descr="Before: image 5196d75 failed the gate with 4 fixable HIGH CVEs">    </p:cNvPr>
          <p:cNvPicPr>
            <a:picLocks noChangeAspect="1"/>
          </p:cNvPicPr>
          <p:nvPr/>
        </p:nvPicPr>
        <p:blipFill>
          <a:blip r:embed="rId1"/>
          <a:stretch>
            <a:fillRect/>
          </a:stretch>
        </p:blipFill>
        <p:spPr>
          <a:xfrm>
            <a:off x="664576" y="1353312"/>
            <a:ext cx="5803167" cy="2715768"/>
          </a:xfrm>
          <a:prstGeom prst="rect">
            <a:avLst/>
          </a:prstGeom>
        </p:spPr>
      </p:pic>
      <p:sp>
        <p:nvSpPr>
          <p:cNvPr id="5" name="trivy-before-caption"/>
          <p:cNvSpPr txBox="1"/>
          <p:nvPr/>
        </p:nvSpPr>
        <p:spPr>
          <a:xfrm>
            <a:off x="664576" y="4105656"/>
            <a:ext cx="5803167" cy="256032"/>
          </a:xfrm>
          <a:prstGeom prst="rect">
            <a:avLst/>
          </a:prstGeom>
          <a:noFill/>
          <a:ln/>
        </p:spPr>
        <p:txBody>
          <a:bodyPr wrap="square" lIns="0" tIns="0" rIns="0" bIns="0" rtlCol="0" anchor="ctr"/>
          <a:lstStyle/>
          <a:p>
            <a:pPr indent="0" marL="0">
              <a:buNone/>
            </a:pPr>
            <a:r>
              <a:rPr lang="en-US" sz="1050" dirty="0">
                <a:solidFill>
                  <a:schemeClr val="tx2"/>
                </a:solidFill>
              </a:rPr>
              <a:t>Before: image 5196d75 failed the gate with 4 fixable HIGH CVEs</a:t>
            </a:r>
            <a:endParaRPr lang="en-US" sz="1050" dirty="0"/>
          </a:p>
        </p:txBody>
      </p:sp>
      <p:sp>
        <p:nvSpPr>
          <p:cNvPr id="6" name="trivy-bullets"/>
          <p:cNvSpPr txBox="1"/>
          <p:nvPr/>
        </p:nvSpPr>
        <p:spPr>
          <a:xfrm>
            <a:off x="548640" y="4572000"/>
            <a:ext cx="6035040" cy="17373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chemeClr val="tx1"/>
                </a:solidFill>
              </a:rPr>
              <a:t>Findings came from pip's vendored urllib3 and msgpack and the ensurepip setuptools wheel, which the API never imports</a:t>
            </a:r>
            <a:endParaRPr lang="en-US" sz="1350" dirty="0"/>
          </a:p>
          <a:p>
            <a:pPr marL="203200" indent="-203200">
              <a:spcAft>
                <a:spcPts val="600"/>
              </a:spcAft>
              <a:buSzPct val="100000"/>
              <a:buChar char="•"/>
            </a:pPr>
            <a:r>
              <a:rPr lang="en-US" sz="1350" dirty="0">
                <a:solidFill>
                  <a:schemeClr val="tx1"/>
                </a:solidFill>
              </a:rPr>
              <a:t>Fix in commit 964bf54: remove pip from the runtime image. Gate now passes; nothing suppressed</a:t>
            </a:r>
            <a:endParaRPr lang="en-US" sz="1350" dirty="0"/>
          </a:p>
          <a:p>
            <a:pPr marL="203200" indent="-203200">
              <a:spcAft>
                <a:spcPts val="600"/>
              </a:spcAft>
              <a:buSzPct val="100000"/>
              <a:buChar char="•"/>
            </a:pPr>
            <a:r>
              <a:rPr lang="en-US" sz="1350" dirty="0">
                <a:solidFill>
                  <a:schemeClr val="tx1"/>
                </a:solidFill>
              </a:rPr>
              <a:t>Policy: fail on fixable HIGH or CRITICAL. Unfixed Debian CVEs are reported, not blocking</a:t>
            </a:r>
            <a:endParaRPr lang="en-US" sz="1350" dirty="0"/>
          </a:p>
        </p:txBody>
      </p:sp>
      <p:sp>
        <p:nvSpPr>
          <p:cNvPr id="7" name="sec1-box"/>
          <p:cNvSpPr/>
          <p:nvPr/>
        </p:nvSpPr>
        <p:spPr>
          <a:xfrm>
            <a:off x="6858000" y="1280160"/>
            <a:ext cx="4754880" cy="1691640"/>
          </a:xfrm>
          <a:prstGeom prst="roundRect">
            <a:avLst>
              <a:gd name="adj" fmla="val 5405"/>
            </a:avLst>
          </a:prstGeom>
          <a:solidFill>
            <a:schemeClr val="bg1"/>
          </a:solidFill>
          <a:ln w="9525">
            <a:solidFill>
              <a:srgbClr val="E0D2BB"/>
            </a:solidFill>
            <a:prstDash val="solid"/>
          </a:ln>
        </p:spPr>
      </p:sp>
      <p:sp>
        <p:nvSpPr>
          <p:cNvPr id="8" name="sec1-dot"/>
          <p:cNvSpPr/>
          <p:nvPr/>
        </p:nvSpPr>
        <p:spPr>
          <a:xfrm>
            <a:off x="7040880" y="1481328"/>
            <a:ext cx="201168" cy="201168"/>
          </a:xfrm>
          <a:prstGeom prst="ellipse">
            <a:avLst/>
          </a:prstGeom>
          <a:solidFill>
            <a:srgbClr val="B8532D"/>
          </a:solidFill>
          <a:ln w="12700">
            <a:solidFill>
              <a:srgbClr val="B8532D"/>
            </a:solidFill>
            <a:prstDash val="solid"/>
          </a:ln>
        </p:spPr>
      </p:sp>
      <p:sp>
        <p:nvSpPr>
          <p:cNvPr id="9" name="sec1-title"/>
          <p:cNvSpPr txBox="1"/>
          <p:nvPr/>
        </p:nvSpPr>
        <p:spPr>
          <a:xfrm>
            <a:off x="7333488" y="1389888"/>
            <a:ext cx="411480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Infrastructure scan</a:t>
            </a:r>
            <a:endParaRPr lang="en-US" sz="1700" dirty="0"/>
          </a:p>
        </p:txBody>
      </p:sp>
      <p:sp>
        <p:nvSpPr>
          <p:cNvPr id="10" name="sec1-body"/>
          <p:cNvSpPr txBox="1"/>
          <p:nvPr/>
        </p:nvSpPr>
        <p:spPr>
          <a:xfrm>
            <a:off x="7040880" y="1828800"/>
            <a:ext cx="4389120" cy="1051560"/>
          </a:xfrm>
          <a:prstGeom prst="rect">
            <a:avLst/>
          </a:prstGeom>
          <a:noFill/>
          <a:ln/>
        </p:spPr>
        <p:txBody>
          <a:bodyPr wrap="square" lIns="0" tIns="0" rIns="0" bIns="0" rtlCol="0" anchor="t"/>
          <a:lstStyle/>
          <a:p>
            <a:pPr indent="0" marL="0">
              <a:buNone/>
            </a:pPr>
            <a:r>
              <a:rPr lang="en-US" sz="1300" dirty="0">
                <a:solidFill>
                  <a:schemeClr val="tx2"/>
                </a:solidFill>
              </a:rPr>
              <a:t>Trivy flagged a public EKS API open to 0.0.0.0/0 (AWS-0040/0041): now private unless you pass your own CIDR. AWS-0104 (node egress) is a documented exception.</a:t>
            </a:r>
            <a:endParaRPr lang="en-US" sz="1300" dirty="0"/>
          </a:p>
        </p:txBody>
      </p:sp>
      <p:sp>
        <p:nvSpPr>
          <p:cNvPr id="11" name="sec2-box"/>
          <p:cNvSpPr/>
          <p:nvPr/>
        </p:nvSpPr>
        <p:spPr>
          <a:xfrm>
            <a:off x="6858000" y="3108960"/>
            <a:ext cx="4754880" cy="1325880"/>
          </a:xfrm>
          <a:prstGeom prst="roundRect">
            <a:avLst>
              <a:gd name="adj" fmla="val 6897"/>
            </a:avLst>
          </a:prstGeom>
          <a:solidFill>
            <a:schemeClr val="bg1"/>
          </a:solidFill>
          <a:ln w="9525">
            <a:solidFill>
              <a:srgbClr val="E0D2BB"/>
            </a:solidFill>
            <a:prstDash val="solid"/>
          </a:ln>
        </p:spPr>
      </p:sp>
      <p:sp>
        <p:nvSpPr>
          <p:cNvPr id="12" name="sec2-dot"/>
          <p:cNvSpPr/>
          <p:nvPr/>
        </p:nvSpPr>
        <p:spPr>
          <a:xfrm>
            <a:off x="7040880" y="3310128"/>
            <a:ext cx="201168" cy="201168"/>
          </a:xfrm>
          <a:prstGeom prst="ellipse">
            <a:avLst/>
          </a:prstGeom>
          <a:solidFill>
            <a:srgbClr val="5F7330"/>
          </a:solidFill>
          <a:ln w="12700">
            <a:solidFill>
              <a:srgbClr val="5F7330"/>
            </a:solidFill>
            <a:prstDash val="solid"/>
          </a:ln>
        </p:spPr>
      </p:sp>
      <p:sp>
        <p:nvSpPr>
          <p:cNvPr id="13" name="sec2-title"/>
          <p:cNvSpPr txBox="1"/>
          <p:nvPr/>
        </p:nvSpPr>
        <p:spPr>
          <a:xfrm>
            <a:off x="7333488" y="3218688"/>
            <a:ext cx="411480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Secrets</a:t>
            </a:r>
            <a:endParaRPr lang="en-US" sz="1700" dirty="0"/>
          </a:p>
        </p:txBody>
      </p:sp>
      <p:sp>
        <p:nvSpPr>
          <p:cNvPr id="14" name="sec2-body"/>
          <p:cNvSpPr txBox="1"/>
          <p:nvPr/>
        </p:nvSpPr>
        <p:spPr>
          <a:xfrm>
            <a:off x="7040880" y="3657600"/>
            <a:ext cx="4389120" cy="685800"/>
          </a:xfrm>
          <a:prstGeom prst="rect">
            <a:avLst/>
          </a:prstGeom>
          <a:noFill/>
          <a:ln/>
        </p:spPr>
        <p:txBody>
          <a:bodyPr wrap="square" lIns="0" tIns="0" rIns="0" bIns="0" rtlCol="0" anchor="t"/>
          <a:lstStyle/>
          <a:p>
            <a:pPr indent="0" marL="0">
              <a:buNone/>
            </a:pPr>
            <a:r>
              <a:rPr lang="en-US" sz="1300" dirty="0">
                <a:solidFill>
                  <a:schemeClr val="tx2"/>
                </a:solidFill>
              </a:rPr>
              <a:t>Gitleaks over the full Git history: no leaks found. .env, state and kubeconfigs are git-ignored.</a:t>
            </a:r>
            <a:endParaRPr lang="en-US" sz="1300" dirty="0"/>
          </a:p>
        </p:txBody>
      </p:sp>
      <p:sp>
        <p:nvSpPr>
          <p:cNvPr id="15" name="sec3-box"/>
          <p:cNvSpPr/>
          <p:nvPr/>
        </p:nvSpPr>
        <p:spPr>
          <a:xfrm>
            <a:off x="6858000" y="4572000"/>
            <a:ext cx="4754880" cy="1691640"/>
          </a:xfrm>
          <a:prstGeom prst="roundRect">
            <a:avLst>
              <a:gd name="adj" fmla="val 5405"/>
            </a:avLst>
          </a:prstGeom>
          <a:solidFill>
            <a:schemeClr val="bg1"/>
          </a:solidFill>
          <a:ln w="9525">
            <a:solidFill>
              <a:srgbClr val="E0D2BB"/>
            </a:solidFill>
            <a:prstDash val="solid"/>
          </a:ln>
        </p:spPr>
      </p:sp>
      <p:sp>
        <p:nvSpPr>
          <p:cNvPr id="16" name="sec3-dot"/>
          <p:cNvSpPr/>
          <p:nvPr/>
        </p:nvSpPr>
        <p:spPr>
          <a:xfrm>
            <a:off x="7040880" y="4773168"/>
            <a:ext cx="201168" cy="201168"/>
          </a:xfrm>
          <a:prstGeom prst="ellipse">
            <a:avLst/>
          </a:prstGeom>
          <a:solidFill>
            <a:srgbClr val="C48A0C"/>
          </a:solidFill>
          <a:ln w="12700">
            <a:solidFill>
              <a:srgbClr val="C48A0C"/>
            </a:solidFill>
            <a:prstDash val="solid"/>
          </a:ln>
        </p:spPr>
      </p:sp>
      <p:sp>
        <p:nvSpPr>
          <p:cNvPr id="17" name="sec3-title"/>
          <p:cNvSpPr txBox="1"/>
          <p:nvPr/>
        </p:nvSpPr>
        <p:spPr>
          <a:xfrm>
            <a:off x="7333488" y="4681728"/>
            <a:ext cx="411480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Supply chain</a:t>
            </a:r>
            <a:endParaRPr lang="en-US" sz="1700" dirty="0"/>
          </a:p>
        </p:txBody>
      </p:sp>
      <p:sp>
        <p:nvSpPr>
          <p:cNvPr id="18" name="sec3-body"/>
          <p:cNvSpPr txBox="1"/>
          <p:nvPr/>
        </p:nvSpPr>
        <p:spPr>
          <a:xfrm>
            <a:off x="7040880" y="5120640"/>
            <a:ext cx="4389120" cy="1051560"/>
          </a:xfrm>
          <a:prstGeom prst="rect">
            <a:avLst/>
          </a:prstGeom>
          <a:noFill/>
          <a:ln/>
        </p:spPr>
        <p:txBody>
          <a:bodyPr wrap="square" lIns="0" tIns="0" rIns="0" bIns="0" rtlCol="0" anchor="t"/>
          <a:lstStyle/>
          <a:p>
            <a:pPr indent="0" marL="0">
              <a:buNone/>
            </a:pPr>
            <a:r>
              <a:rPr lang="en-US" sz="1300" dirty="0">
                <a:solidFill>
                  <a:schemeClr val="tx2"/>
                </a:solidFill>
              </a:rPr>
              <a:t>Every action pinned to a commit SHA. CycloneDX SBOMs: 119 components (backend), 71 (frontend). Provenance attestation on push.</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Terraform: VPC and EKS as code, applied and destroyed on real AWS</a:t>
            </a:r>
            <a:endParaRPr lang="en-US" sz="3400" dirty="0"/>
          </a:p>
        </p:txBody>
      </p:sp>
      <p:sp>
        <p:nvSpPr>
          <p:cNvPr id="3" name="aws-card"/>
          <p:cNvSpPr/>
          <p:nvPr/>
        </p:nvSpPr>
        <p:spPr>
          <a:xfrm>
            <a:off x="559816" y="1234440"/>
            <a:ext cx="7201408" cy="4114800"/>
          </a:xfrm>
          <a:prstGeom prst="roundRect">
            <a:avLst>
              <a:gd name="adj" fmla="val 1778"/>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4" name="aws" descr="aws">    </p:cNvPr>
          <p:cNvPicPr>
            <a:picLocks noChangeAspect="1"/>
          </p:cNvPicPr>
          <p:nvPr/>
        </p:nvPicPr>
        <p:blipFill>
          <a:blip r:embed="rId1"/>
          <a:stretch>
            <a:fillRect/>
          </a:stretch>
        </p:blipFill>
        <p:spPr>
          <a:xfrm>
            <a:off x="632968" y="1307592"/>
            <a:ext cx="7055104" cy="3968496"/>
          </a:xfrm>
          <a:prstGeom prst="rect">
            <a:avLst/>
          </a:prstGeom>
        </p:spPr>
      </p:pic>
      <p:sp>
        <p:nvSpPr>
          <p:cNvPr id="5" name="tf1-value"/>
          <p:cNvSpPr txBox="1"/>
          <p:nvPr/>
        </p:nvSpPr>
        <p:spPr>
          <a:xfrm>
            <a:off x="8092440" y="1325880"/>
            <a:ext cx="35661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62</a:t>
            </a:r>
            <a:endParaRPr lang="en-US" sz="4000" dirty="0"/>
          </a:p>
        </p:txBody>
      </p:sp>
      <p:sp>
        <p:nvSpPr>
          <p:cNvPr id="6" name="tf1-label"/>
          <p:cNvSpPr txBox="1"/>
          <p:nvPr/>
        </p:nvSpPr>
        <p:spPr>
          <a:xfrm>
            <a:off x="8092440" y="2011680"/>
            <a:ext cx="3566160" cy="457200"/>
          </a:xfrm>
          <a:prstGeom prst="rect">
            <a:avLst/>
          </a:prstGeom>
          <a:noFill/>
          <a:ln/>
        </p:spPr>
        <p:txBody>
          <a:bodyPr wrap="square" lIns="0" tIns="0" rIns="0" bIns="0" rtlCol="0" anchor="t"/>
          <a:lstStyle/>
          <a:p>
            <a:pPr indent="0" marL="0">
              <a:buNone/>
            </a:pPr>
            <a:r>
              <a:rPr lang="en-US" sz="1300" dirty="0">
                <a:solidFill>
                  <a:schemeClr val="tx2"/>
                </a:solidFill>
              </a:rPr>
              <a:t>resources in terraform plan (real AWS)</a:t>
            </a:r>
            <a:endParaRPr lang="en-US" sz="1300" dirty="0"/>
          </a:p>
        </p:txBody>
      </p:sp>
      <p:sp>
        <p:nvSpPr>
          <p:cNvPr id="7" name="tf2-value"/>
          <p:cNvSpPr txBox="1"/>
          <p:nvPr/>
        </p:nvSpPr>
        <p:spPr>
          <a:xfrm>
            <a:off x="8092440" y="2606040"/>
            <a:ext cx="356616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62 / 62</a:t>
            </a:r>
            <a:endParaRPr lang="en-US" sz="4000" dirty="0"/>
          </a:p>
        </p:txBody>
      </p:sp>
      <p:sp>
        <p:nvSpPr>
          <p:cNvPr id="8" name="tf2-label"/>
          <p:cNvSpPr txBox="1"/>
          <p:nvPr/>
        </p:nvSpPr>
        <p:spPr>
          <a:xfrm>
            <a:off x="8092440" y="3291840"/>
            <a:ext cx="3566160" cy="457200"/>
          </a:xfrm>
          <a:prstGeom prst="rect">
            <a:avLst/>
          </a:prstGeom>
          <a:noFill/>
          <a:ln/>
        </p:spPr>
        <p:txBody>
          <a:bodyPr wrap="square" lIns="0" tIns="0" rIns="0" bIns="0" rtlCol="0" anchor="t"/>
          <a:lstStyle/>
          <a:p>
            <a:pPr indent="0" marL="0">
              <a:buNone/>
            </a:pPr>
            <a:r>
              <a:rPr lang="en-US" sz="1300" dirty="0">
                <a:solidFill>
                  <a:schemeClr val="tx2"/>
                </a:solidFill>
              </a:rPr>
              <a:t>created by two applies; the first node group needed a Free-plan eligible type</a:t>
            </a:r>
            <a:endParaRPr lang="en-US" sz="1300" dirty="0"/>
          </a:p>
        </p:txBody>
      </p:sp>
      <p:sp>
        <p:nvSpPr>
          <p:cNvPr id="9" name="tf3-value"/>
          <p:cNvSpPr txBox="1"/>
          <p:nvPr/>
        </p:nvSpPr>
        <p:spPr>
          <a:xfrm>
            <a:off x="8092440" y="3886200"/>
            <a:ext cx="3566160" cy="68580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62</a:t>
            </a:r>
            <a:endParaRPr lang="en-US" sz="4000" dirty="0"/>
          </a:p>
        </p:txBody>
      </p:sp>
      <p:sp>
        <p:nvSpPr>
          <p:cNvPr id="10" name="tf3-label"/>
          <p:cNvSpPr txBox="1"/>
          <p:nvPr/>
        </p:nvSpPr>
        <p:spPr>
          <a:xfrm>
            <a:off x="8092440" y="4572000"/>
            <a:ext cx="3566160" cy="457200"/>
          </a:xfrm>
          <a:prstGeom prst="rect">
            <a:avLst/>
          </a:prstGeom>
          <a:noFill/>
          <a:ln/>
        </p:spPr>
        <p:txBody>
          <a:bodyPr wrap="square" lIns="0" tIns="0" rIns="0" bIns="0" rtlCol="0" anchor="t"/>
          <a:lstStyle/>
          <a:p>
            <a:pPr indent="0" marL="0">
              <a:buNone/>
            </a:pPr>
            <a:r>
              <a:rPr lang="en-US" sz="1300" dirty="0">
                <a:solidFill>
                  <a:schemeClr val="tx2"/>
                </a:solidFill>
              </a:rPr>
              <a:t>destroyed by terraform destroy; nothing left</a:t>
            </a:r>
            <a:endParaRPr lang="en-US" sz="1300" dirty="0"/>
          </a:p>
        </p:txBody>
      </p:sp>
      <p:sp>
        <p:nvSpPr>
          <p:cNvPr id="11" name="tf-warning"/>
          <p:cNvSpPr/>
          <p:nvPr/>
        </p:nvSpPr>
        <p:spPr>
          <a:xfrm>
            <a:off x="548640" y="5486400"/>
            <a:ext cx="11064240" cy="777240"/>
          </a:xfrm>
          <a:prstGeom prst="roundRect">
            <a:avLst>
              <a:gd name="adj" fmla="val 9412"/>
            </a:avLst>
          </a:prstGeom>
          <a:solidFill>
            <a:srgbClr val="FBE3D8"/>
          </a:solidFill>
          <a:ln w="19050">
            <a:solidFill>
              <a:srgbClr val="B8532D"/>
            </a:solidFill>
            <a:prstDash val="solid"/>
          </a:ln>
        </p:spPr>
      </p:sp>
      <p:sp>
        <p:nvSpPr>
          <p:cNvPr id="12" name="tf-warning-text"/>
          <p:cNvSpPr txBox="1"/>
          <p:nvPr/>
        </p:nvSpPr>
        <p:spPr>
          <a:xfrm>
            <a:off x="731520" y="5532120"/>
            <a:ext cx="10698480" cy="685800"/>
          </a:xfrm>
          <a:prstGeom prst="rect">
            <a:avLst/>
          </a:prstGeom>
          <a:noFill/>
          <a:ln/>
        </p:spPr>
        <p:txBody>
          <a:bodyPr wrap="square" lIns="0" tIns="0" rIns="0" bIns="0" rtlCol="0" anchor="ctr"/>
          <a:lstStyle/>
          <a:p>
            <a:pPr indent="0" marL="0">
              <a:buNone/>
            </a:pPr>
            <a:r>
              <a:rPr lang="en-US" sz="1350" dirty="0">
                <a:solidFill>
                  <a:schemeClr val="accent6"/>
                </a:solidFill>
              </a:rPr>
              <a:t>Provisioned in a real AWS account (ap-south-1), then destroyed: two m7i-flex.large nodes Ready on EKS 1.35, with Console and kubectl proof. The first apply stopped because t3.medium is not Free-plan eligible. fmt, init and validate pass; Trivy IaC scan passes.</a:t>
            </a:r>
            <a:endParaRPr lang="en-US" sz="13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Kubernetes and Helm: hardened pods, Ingress, HPA</a:t>
            </a:r>
            <a:endParaRPr lang="en-US" sz="3400" dirty="0"/>
          </a:p>
        </p:txBody>
      </p:sp>
      <p:sp>
        <p:nvSpPr>
          <p:cNvPr id="3" name="k8s-pods-card"/>
          <p:cNvSpPr/>
          <p:nvPr/>
        </p:nvSpPr>
        <p:spPr>
          <a:xfrm>
            <a:off x="811530" y="1280160"/>
            <a:ext cx="5509260" cy="2148840"/>
          </a:xfrm>
          <a:prstGeom prst="roundRect">
            <a:avLst>
              <a:gd name="adj" fmla="val 3404"/>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4" name="k8s-pods" descr="kubectl get pods: 2 frontend + 2 backend + PostgreSQL, all Running">    </p:cNvPr>
          <p:cNvPicPr>
            <a:picLocks noChangeAspect="1"/>
          </p:cNvPicPr>
          <p:nvPr/>
        </p:nvPicPr>
        <p:blipFill>
          <a:blip r:embed="rId1"/>
          <a:stretch>
            <a:fillRect/>
          </a:stretch>
        </p:blipFill>
        <p:spPr>
          <a:xfrm>
            <a:off x="884682" y="1353312"/>
            <a:ext cx="5362956" cy="1709928"/>
          </a:xfrm>
          <a:prstGeom prst="rect">
            <a:avLst/>
          </a:prstGeom>
        </p:spPr>
      </p:pic>
      <p:sp>
        <p:nvSpPr>
          <p:cNvPr id="5" name="k8s-pods-caption"/>
          <p:cNvSpPr txBox="1"/>
          <p:nvPr/>
        </p:nvSpPr>
        <p:spPr>
          <a:xfrm>
            <a:off x="884682" y="3099816"/>
            <a:ext cx="5362956" cy="256032"/>
          </a:xfrm>
          <a:prstGeom prst="rect">
            <a:avLst/>
          </a:prstGeom>
          <a:noFill/>
          <a:ln/>
        </p:spPr>
        <p:txBody>
          <a:bodyPr wrap="square" lIns="0" tIns="0" rIns="0" bIns="0" rtlCol="0" anchor="ctr"/>
          <a:lstStyle/>
          <a:p>
            <a:pPr indent="0" marL="0">
              <a:buNone/>
            </a:pPr>
            <a:r>
              <a:rPr lang="en-US" sz="1050" dirty="0">
                <a:solidFill>
                  <a:schemeClr val="tx2"/>
                </a:solidFill>
              </a:rPr>
              <a:t>kubectl get pods: 2 frontend + 2 backend + PostgreSQL, all Running</a:t>
            </a:r>
            <a:endParaRPr lang="en-US" sz="1050" dirty="0"/>
          </a:p>
        </p:txBody>
      </p:sp>
      <p:sp>
        <p:nvSpPr>
          <p:cNvPr id="6" name="helm-card"/>
          <p:cNvSpPr/>
          <p:nvPr/>
        </p:nvSpPr>
        <p:spPr>
          <a:xfrm>
            <a:off x="995586" y="3566160"/>
            <a:ext cx="5141148" cy="2743200"/>
          </a:xfrm>
          <a:prstGeom prst="roundRect">
            <a:avLst>
              <a:gd name="adj" fmla="val 2667"/>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7" name="helm" descr="helm list, history and helm test (passed)">    </p:cNvPr>
          <p:cNvPicPr>
            <a:picLocks noChangeAspect="1"/>
          </p:cNvPicPr>
          <p:nvPr/>
        </p:nvPicPr>
        <p:blipFill>
          <a:blip r:embed="rId2"/>
          <a:stretch>
            <a:fillRect/>
          </a:stretch>
        </p:blipFill>
        <p:spPr>
          <a:xfrm>
            <a:off x="1068738" y="3639312"/>
            <a:ext cx="4994844" cy="2304288"/>
          </a:xfrm>
          <a:prstGeom prst="rect">
            <a:avLst/>
          </a:prstGeom>
        </p:spPr>
      </p:pic>
      <p:sp>
        <p:nvSpPr>
          <p:cNvPr id="8" name="helm-caption"/>
          <p:cNvSpPr txBox="1"/>
          <p:nvPr/>
        </p:nvSpPr>
        <p:spPr>
          <a:xfrm>
            <a:off x="1068738" y="5980176"/>
            <a:ext cx="4994844" cy="256032"/>
          </a:xfrm>
          <a:prstGeom prst="rect">
            <a:avLst/>
          </a:prstGeom>
          <a:noFill/>
          <a:ln/>
        </p:spPr>
        <p:txBody>
          <a:bodyPr wrap="square" lIns="0" tIns="0" rIns="0" bIns="0" rtlCol="0" anchor="ctr"/>
          <a:lstStyle/>
          <a:p>
            <a:pPr indent="0" marL="0">
              <a:buNone/>
            </a:pPr>
            <a:r>
              <a:rPr lang="en-US" sz="1050" dirty="0">
                <a:solidFill>
                  <a:schemeClr val="tx2"/>
                </a:solidFill>
              </a:rPr>
              <a:t>helm list, history and helm test (passed)</a:t>
            </a:r>
            <a:endParaRPr lang="en-US" sz="1050" dirty="0"/>
          </a:p>
        </p:txBody>
      </p:sp>
      <p:sp>
        <p:nvSpPr>
          <p:cNvPr id="9" name="hpa-card"/>
          <p:cNvSpPr/>
          <p:nvPr/>
        </p:nvSpPr>
        <p:spPr>
          <a:xfrm>
            <a:off x="7184088" y="1280160"/>
            <a:ext cx="4056983" cy="3931920"/>
          </a:xfrm>
          <a:prstGeom prst="roundRect">
            <a:avLst>
              <a:gd name="adj" fmla="val 1860"/>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10" name="hpa" descr="Under load the HPA went from 2 to 6 backend pods">    </p:cNvPr>
          <p:cNvPicPr>
            <a:picLocks noChangeAspect="1"/>
          </p:cNvPicPr>
          <p:nvPr/>
        </p:nvPicPr>
        <p:blipFill>
          <a:blip r:embed="rId3"/>
          <a:stretch>
            <a:fillRect/>
          </a:stretch>
        </p:blipFill>
        <p:spPr>
          <a:xfrm>
            <a:off x="7257240" y="1353312"/>
            <a:ext cx="3910679" cy="3493008"/>
          </a:xfrm>
          <a:prstGeom prst="rect">
            <a:avLst/>
          </a:prstGeom>
        </p:spPr>
      </p:pic>
      <p:sp>
        <p:nvSpPr>
          <p:cNvPr id="11" name="hpa-caption"/>
          <p:cNvSpPr txBox="1"/>
          <p:nvPr/>
        </p:nvSpPr>
        <p:spPr>
          <a:xfrm>
            <a:off x="7257240" y="4882896"/>
            <a:ext cx="3910679" cy="256032"/>
          </a:xfrm>
          <a:prstGeom prst="rect">
            <a:avLst/>
          </a:prstGeom>
          <a:noFill/>
          <a:ln/>
        </p:spPr>
        <p:txBody>
          <a:bodyPr wrap="square" lIns="0" tIns="0" rIns="0" bIns="0" rtlCol="0" anchor="ctr"/>
          <a:lstStyle/>
          <a:p>
            <a:pPr indent="0" marL="0">
              <a:buNone/>
            </a:pPr>
            <a:r>
              <a:rPr lang="en-US" sz="1050" dirty="0">
                <a:solidFill>
                  <a:schemeClr val="tx2"/>
                </a:solidFill>
              </a:rPr>
              <a:t>Under load the HPA went from 2 to 6 backend pods</a:t>
            </a:r>
            <a:endParaRPr lang="en-US" sz="1050" dirty="0"/>
          </a:p>
        </p:txBody>
      </p:sp>
      <p:sp>
        <p:nvSpPr>
          <p:cNvPr id="12" name="k8s-bullets"/>
          <p:cNvSpPr txBox="1"/>
          <p:nvPr/>
        </p:nvSpPr>
        <p:spPr>
          <a:xfrm>
            <a:off x="6812280" y="5349240"/>
            <a:ext cx="4800600" cy="10058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Ingress: / to the frontend, /api to the backend (pantrix.localtest.me)</a:t>
            </a:r>
            <a:endParaRPr lang="en-US" sz="1300" dirty="0"/>
          </a:p>
          <a:p>
            <a:pPr marL="203200" indent="-203200">
              <a:spcAft>
                <a:spcPts val="600"/>
              </a:spcAft>
              <a:buSzPct val="100000"/>
              <a:buChar char="•"/>
            </a:pPr>
            <a:r>
              <a:rPr lang="en-US" sz="1300" dirty="0">
                <a:solidFill>
                  <a:schemeClr val="tx1"/>
                </a:solidFill>
              </a:rPr>
              <a:t>Restricted Pod Security: non-root, read-only root filesystem, no capabilities</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GitOps with Argo CD: Git is the desired state</a:t>
            </a:r>
            <a:endParaRPr lang="en-US" sz="3400" dirty="0"/>
          </a:p>
        </p:txBody>
      </p:sp>
      <p:sp>
        <p:nvSpPr>
          <p:cNvPr id="3" name="argocd-card"/>
          <p:cNvSpPr/>
          <p:nvPr/>
        </p:nvSpPr>
        <p:spPr>
          <a:xfrm>
            <a:off x="548640" y="1335047"/>
            <a:ext cx="6949440" cy="4873706"/>
          </a:xfrm>
          <a:prstGeom prst="roundRect">
            <a:avLst>
              <a:gd name="adj" fmla="val 1501"/>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4" name="argocd" descr="Argo CD: pantrix-dev Synced and Healthy at the promotion commit">    </p:cNvPr>
          <p:cNvPicPr>
            <a:picLocks noChangeAspect="1"/>
          </p:cNvPicPr>
          <p:nvPr/>
        </p:nvPicPr>
        <p:blipFill>
          <a:blip r:embed="rId1"/>
          <a:stretch>
            <a:fillRect/>
          </a:stretch>
        </p:blipFill>
        <p:spPr>
          <a:xfrm>
            <a:off x="621792" y="1408199"/>
            <a:ext cx="6803136" cy="4434794"/>
          </a:xfrm>
          <a:prstGeom prst="rect">
            <a:avLst/>
          </a:prstGeom>
        </p:spPr>
      </p:pic>
      <p:sp>
        <p:nvSpPr>
          <p:cNvPr id="5" name="argocd-caption"/>
          <p:cNvSpPr txBox="1"/>
          <p:nvPr/>
        </p:nvSpPr>
        <p:spPr>
          <a:xfrm>
            <a:off x="621792" y="5879569"/>
            <a:ext cx="6803136" cy="256032"/>
          </a:xfrm>
          <a:prstGeom prst="rect">
            <a:avLst/>
          </a:prstGeom>
          <a:noFill/>
          <a:ln/>
        </p:spPr>
        <p:txBody>
          <a:bodyPr wrap="square" lIns="0" tIns="0" rIns="0" bIns="0" rtlCol="0" anchor="ctr"/>
          <a:lstStyle/>
          <a:p>
            <a:pPr indent="0" marL="0">
              <a:buNone/>
            </a:pPr>
            <a:r>
              <a:rPr lang="en-US" sz="1050" dirty="0">
                <a:solidFill>
                  <a:schemeClr val="tx2"/>
                </a:solidFill>
              </a:rPr>
              <a:t>Argo CD: pantrix-dev Synced and Healthy at the promotion commit</a:t>
            </a:r>
            <a:endParaRPr lang="en-US" sz="1050" dirty="0"/>
          </a:p>
        </p:txBody>
      </p:sp>
      <p:sp>
        <p:nvSpPr>
          <p:cNvPr id="6" name="step1-dot"/>
          <p:cNvSpPr/>
          <p:nvPr/>
        </p:nvSpPr>
        <p:spPr>
          <a:xfrm>
            <a:off x="7818120" y="1417320"/>
            <a:ext cx="502920" cy="502920"/>
          </a:xfrm>
          <a:prstGeom prst="ellipse">
            <a:avLst/>
          </a:prstGeom>
          <a:solidFill>
            <a:schemeClr val="accent1"/>
          </a:solidFill>
          <a:ln w="12700">
            <a:solidFill>
              <a:schemeClr val="accent1"/>
            </a:solidFill>
            <a:prstDash val="solid"/>
          </a:ln>
        </p:spPr>
      </p:sp>
      <p:sp>
        <p:nvSpPr>
          <p:cNvPr id="7" name="step1-n"/>
          <p:cNvSpPr txBox="1"/>
          <p:nvPr/>
        </p:nvSpPr>
        <p:spPr>
          <a:xfrm>
            <a:off x="7818120" y="1417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step1-text"/>
          <p:cNvSpPr txBox="1"/>
          <p:nvPr/>
        </p:nvSpPr>
        <p:spPr>
          <a:xfrm>
            <a:off x="8503920" y="1307592"/>
            <a:ext cx="3154680" cy="777240"/>
          </a:xfrm>
          <a:prstGeom prst="rect">
            <a:avLst/>
          </a:prstGeom>
          <a:noFill/>
          <a:ln/>
        </p:spPr>
        <p:txBody>
          <a:bodyPr wrap="square" lIns="0" tIns="0" rIns="0" bIns="0" rtlCol="0" anchor="ctr"/>
          <a:lstStyle/>
          <a:p>
            <a:pPr indent="0" marL="0">
              <a:buNone/>
            </a:pPr>
            <a:r>
              <a:rPr lang="en-US" sz="1400" dirty="0">
                <a:solidFill>
                  <a:schemeClr val="tx1"/>
                </a:solidFill>
              </a:rPr>
              <a:t>CI builds and scans images tagged with the commit SHA</a:t>
            </a:r>
            <a:endParaRPr lang="en-US" sz="1400" dirty="0"/>
          </a:p>
        </p:txBody>
      </p:sp>
      <p:sp>
        <p:nvSpPr>
          <p:cNvPr id="9" name="step2-dot"/>
          <p:cNvSpPr/>
          <p:nvPr/>
        </p:nvSpPr>
        <p:spPr>
          <a:xfrm>
            <a:off x="7818120" y="2606040"/>
            <a:ext cx="502920" cy="502920"/>
          </a:xfrm>
          <a:prstGeom prst="ellipse">
            <a:avLst/>
          </a:prstGeom>
          <a:solidFill>
            <a:schemeClr val="accent1"/>
          </a:solidFill>
          <a:ln w="12700">
            <a:solidFill>
              <a:schemeClr val="accent1"/>
            </a:solidFill>
            <a:prstDash val="solid"/>
          </a:ln>
        </p:spPr>
      </p:sp>
      <p:sp>
        <p:nvSpPr>
          <p:cNvPr id="10" name="step2-n"/>
          <p:cNvSpPr txBox="1"/>
          <p:nvPr/>
        </p:nvSpPr>
        <p:spPr>
          <a:xfrm>
            <a:off x="7818120" y="2606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step2-text"/>
          <p:cNvSpPr txBox="1"/>
          <p:nvPr/>
        </p:nvSpPr>
        <p:spPr>
          <a:xfrm>
            <a:off x="8503920" y="2496312"/>
            <a:ext cx="3154680" cy="777240"/>
          </a:xfrm>
          <a:prstGeom prst="rect">
            <a:avLst/>
          </a:prstGeom>
          <a:noFill/>
          <a:ln/>
        </p:spPr>
        <p:txBody>
          <a:bodyPr wrap="square" lIns="0" tIns="0" rIns="0" bIns="0" rtlCol="0" anchor="ctr"/>
          <a:lstStyle/>
          <a:p>
            <a:pPr indent="0" marL="0">
              <a:buNone/>
            </a:pPr>
            <a:r>
              <a:rPr lang="en-US" sz="1400" dirty="0">
                <a:solidFill>
                  <a:schemeClr val="tx1"/>
                </a:solidFill>
              </a:rPr>
              <a:t>A promotion commit changes image.tag in gitops/environments/dev/values.yaml</a:t>
            </a:r>
            <a:endParaRPr lang="en-US" sz="1400" dirty="0"/>
          </a:p>
        </p:txBody>
      </p:sp>
      <p:sp>
        <p:nvSpPr>
          <p:cNvPr id="12" name="step3-dot"/>
          <p:cNvSpPr/>
          <p:nvPr/>
        </p:nvSpPr>
        <p:spPr>
          <a:xfrm>
            <a:off x="7818120" y="3794760"/>
            <a:ext cx="502920" cy="502920"/>
          </a:xfrm>
          <a:prstGeom prst="ellipse">
            <a:avLst/>
          </a:prstGeom>
          <a:solidFill>
            <a:schemeClr val="accent1"/>
          </a:solidFill>
          <a:ln w="12700">
            <a:solidFill>
              <a:schemeClr val="accent1"/>
            </a:solidFill>
            <a:prstDash val="solid"/>
          </a:ln>
        </p:spPr>
      </p:sp>
      <p:sp>
        <p:nvSpPr>
          <p:cNvPr id="13" name="step3-n"/>
          <p:cNvSpPr txBox="1"/>
          <p:nvPr/>
        </p:nvSpPr>
        <p:spPr>
          <a:xfrm>
            <a:off x="7818120" y="37947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step3-text"/>
          <p:cNvSpPr txBox="1"/>
          <p:nvPr/>
        </p:nvSpPr>
        <p:spPr>
          <a:xfrm>
            <a:off x="8503920" y="3685032"/>
            <a:ext cx="3154680" cy="777240"/>
          </a:xfrm>
          <a:prstGeom prst="rect">
            <a:avLst/>
          </a:prstGeom>
          <a:noFill/>
          <a:ln/>
        </p:spPr>
        <p:txBody>
          <a:bodyPr wrap="square" lIns="0" tIns="0" rIns="0" bIns="0" rtlCol="0" anchor="ctr"/>
          <a:lstStyle/>
          <a:p>
            <a:pPr indent="0" marL="0">
              <a:buNone/>
            </a:pPr>
            <a:r>
              <a:rPr lang="en-US" sz="1400" dirty="0">
                <a:solidFill>
                  <a:schemeClr val="tx1"/>
                </a:solidFill>
              </a:rPr>
              <a:t>Argo CD sees the commit, syncs, prunes and self-heals</a:t>
            </a:r>
            <a:endParaRPr lang="en-US" sz="1400" dirty="0"/>
          </a:p>
        </p:txBody>
      </p:sp>
      <p:sp>
        <p:nvSpPr>
          <p:cNvPr id="15" name="step4-dot"/>
          <p:cNvSpPr/>
          <p:nvPr/>
        </p:nvSpPr>
        <p:spPr>
          <a:xfrm>
            <a:off x="7818120" y="4983480"/>
            <a:ext cx="502920" cy="502920"/>
          </a:xfrm>
          <a:prstGeom prst="ellipse">
            <a:avLst/>
          </a:prstGeom>
          <a:solidFill>
            <a:schemeClr val="accent1"/>
          </a:solidFill>
          <a:ln w="12700">
            <a:solidFill>
              <a:schemeClr val="accent1"/>
            </a:solidFill>
            <a:prstDash val="solid"/>
          </a:ln>
        </p:spPr>
      </p:sp>
      <p:sp>
        <p:nvSpPr>
          <p:cNvPr id="16" name="step4-n"/>
          <p:cNvSpPr txBox="1"/>
          <p:nvPr/>
        </p:nvSpPr>
        <p:spPr>
          <a:xfrm>
            <a:off x="7818120" y="49834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step4-text"/>
          <p:cNvSpPr txBox="1"/>
          <p:nvPr/>
        </p:nvSpPr>
        <p:spPr>
          <a:xfrm>
            <a:off x="8503920" y="4873752"/>
            <a:ext cx="3154680" cy="777240"/>
          </a:xfrm>
          <a:prstGeom prst="rect">
            <a:avLst/>
          </a:prstGeom>
          <a:noFill/>
          <a:ln/>
        </p:spPr>
        <p:txBody>
          <a:bodyPr wrap="square" lIns="0" tIns="0" rIns="0" bIns="0" rtlCol="0" anchor="ctr"/>
          <a:lstStyle/>
          <a:p>
            <a:pPr indent="0" marL="0">
              <a:buNone/>
            </a:pPr>
            <a:r>
              <a:rPr lang="en-US" sz="1400" dirty="0">
                <a:solidFill>
                  <a:schemeClr val="tx1"/>
                </a:solidFill>
              </a:rPr>
              <a:t>Rollback = revert the commit; history is the audit log</a:t>
            </a:r>
            <a:endParaRPr lang="en-US" sz="1400" dirty="0"/>
          </a:p>
        </p:txBody>
      </p:sp>
      <p:sp>
        <p:nvSpPr>
          <p:cNvPr id="18" name="Text 15"/>
          <p:cNvSpPr txBox="1"/>
          <p:nvPr/>
        </p:nvSpPr>
        <p:spPr>
          <a:xfrm>
            <a:off x="7818120" y="5852160"/>
            <a:ext cx="3840480" cy="457200"/>
          </a:xfrm>
          <a:prstGeom prst="rect">
            <a:avLst/>
          </a:prstGeom>
          <a:noFill/>
          <a:ln/>
        </p:spPr>
        <p:txBody>
          <a:bodyPr wrap="square" lIns="0" tIns="0" rIns="0" bIns="0" rtlCol="0" anchor="ctr"/>
          <a:lstStyle/>
          <a:p>
            <a:pPr indent="0" marL="0">
              <a:buNone/>
            </a:pPr>
            <a:r>
              <a:rPr lang="en-US" sz="1100" i="1" dirty="0">
                <a:solidFill>
                  <a:schemeClr val="tx2"/>
                </a:solidFill>
              </a:rPr>
              <a:t>CI pushes to GitHub (ci-cd #6, then promote.yml). The local demo cluster watches an in-cluster git daemon.</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Observability: every pod scraped, live Grafana</a:t>
            </a:r>
            <a:endParaRPr lang="en-US" sz="3400" dirty="0"/>
          </a:p>
        </p:txBody>
      </p:sp>
      <p:sp>
        <p:nvSpPr>
          <p:cNvPr id="3" name="grafana-card"/>
          <p:cNvSpPr/>
          <p:nvPr/>
        </p:nvSpPr>
        <p:spPr>
          <a:xfrm>
            <a:off x="623108" y="1280160"/>
            <a:ext cx="6571904" cy="5029200"/>
          </a:xfrm>
          <a:prstGeom prst="roundRect">
            <a:avLst>
              <a:gd name="adj" fmla="val 1455"/>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4" name="grafana" descr="Grafana: request rate, 5xx ratio, p95 latency, stock events, pod CPU/memory">    </p:cNvPr>
          <p:cNvPicPr>
            <a:picLocks noChangeAspect="1"/>
          </p:cNvPicPr>
          <p:nvPr/>
        </p:nvPicPr>
        <p:blipFill>
          <a:blip r:embed="rId1"/>
          <a:stretch>
            <a:fillRect/>
          </a:stretch>
        </p:blipFill>
        <p:spPr>
          <a:xfrm>
            <a:off x="696260" y="1353312"/>
            <a:ext cx="6425600" cy="4590288"/>
          </a:xfrm>
          <a:prstGeom prst="rect">
            <a:avLst/>
          </a:prstGeom>
        </p:spPr>
      </p:pic>
      <p:sp>
        <p:nvSpPr>
          <p:cNvPr id="5" name="grafana-caption"/>
          <p:cNvSpPr txBox="1"/>
          <p:nvPr/>
        </p:nvSpPr>
        <p:spPr>
          <a:xfrm>
            <a:off x="696260" y="5980176"/>
            <a:ext cx="6425600" cy="256032"/>
          </a:xfrm>
          <a:prstGeom prst="rect">
            <a:avLst/>
          </a:prstGeom>
          <a:noFill/>
          <a:ln/>
        </p:spPr>
        <p:txBody>
          <a:bodyPr wrap="square" lIns="0" tIns="0" rIns="0" bIns="0" rtlCol="0" anchor="ctr"/>
          <a:lstStyle/>
          <a:p>
            <a:pPr indent="0" marL="0">
              <a:buNone/>
            </a:pPr>
            <a:r>
              <a:rPr lang="en-US" sz="1050" dirty="0">
                <a:solidFill>
                  <a:schemeClr val="tx2"/>
                </a:solidFill>
              </a:rPr>
              <a:t>Grafana: request rate, 5xx ratio, p95 latency, stock events, pod CPU/memory</a:t>
            </a:r>
            <a:endParaRPr lang="en-US" sz="1050" dirty="0"/>
          </a:p>
        </p:txBody>
      </p:sp>
      <p:sp>
        <p:nvSpPr>
          <p:cNvPr id="6" name="prom-card"/>
          <p:cNvSpPr/>
          <p:nvPr/>
        </p:nvSpPr>
        <p:spPr>
          <a:xfrm>
            <a:off x="7607589" y="1280160"/>
            <a:ext cx="3895782" cy="3154680"/>
          </a:xfrm>
          <a:prstGeom prst="roundRect">
            <a:avLst>
              <a:gd name="adj" fmla="val 2319"/>
            </a:avLst>
          </a:prstGeom>
          <a:solidFill>
            <a:schemeClr val="bg1"/>
          </a:solidFill>
          <a:ln w="9525">
            <a:solidFill>
              <a:srgbClr val="E0D2BB"/>
            </a:solidFill>
            <a:prstDash val="solid"/>
          </a:ln>
          <a:effectLst>
            <a:outerShdw sx="100000" sy="100000" kx="0" ky="0" algn="bl" rotWithShape="0" blurRad="101600" dist="38100" dir="5400000">
              <a:srgbClr val="3C2814">
                <a:alpha val="18000"/>
              </a:srgbClr>
            </a:outerShdw>
          </a:effectLst>
        </p:spPr>
      </p:sp>
      <p:pic>
        <p:nvPicPr>
          <p:cNvPr id="7" name="prom" descr="Prometheus: pantrix-backend 6/6 UP">    </p:cNvPr>
          <p:cNvPicPr>
            <a:picLocks noChangeAspect="1"/>
          </p:cNvPicPr>
          <p:nvPr/>
        </p:nvPicPr>
        <p:blipFill>
          <a:blip r:embed="rId2"/>
          <a:stretch>
            <a:fillRect/>
          </a:stretch>
        </p:blipFill>
        <p:spPr>
          <a:xfrm>
            <a:off x="7680741" y="1353312"/>
            <a:ext cx="3749478" cy="2715768"/>
          </a:xfrm>
          <a:prstGeom prst="rect">
            <a:avLst/>
          </a:prstGeom>
        </p:spPr>
      </p:pic>
      <p:sp>
        <p:nvSpPr>
          <p:cNvPr id="8" name="prom-caption"/>
          <p:cNvSpPr txBox="1"/>
          <p:nvPr/>
        </p:nvSpPr>
        <p:spPr>
          <a:xfrm>
            <a:off x="7680741" y="4105656"/>
            <a:ext cx="3749478" cy="256032"/>
          </a:xfrm>
          <a:prstGeom prst="rect">
            <a:avLst/>
          </a:prstGeom>
          <a:noFill/>
          <a:ln/>
        </p:spPr>
        <p:txBody>
          <a:bodyPr wrap="square" lIns="0" tIns="0" rIns="0" bIns="0" rtlCol="0" anchor="ctr"/>
          <a:lstStyle/>
          <a:p>
            <a:pPr indent="0" marL="0">
              <a:buNone/>
            </a:pPr>
            <a:r>
              <a:rPr lang="en-US" sz="1050" dirty="0">
                <a:solidFill>
                  <a:schemeClr val="tx2"/>
                </a:solidFill>
              </a:rPr>
              <a:t>Prometheus: pantrix-backend 6/6 UP</a:t>
            </a:r>
            <a:endParaRPr lang="en-US" sz="1050" dirty="0"/>
          </a:p>
        </p:txBody>
      </p:sp>
      <p:sp>
        <p:nvSpPr>
          <p:cNvPr id="9" name="obs-bullets"/>
          <p:cNvSpPr txBox="1"/>
          <p:nvPr/>
        </p:nvSpPr>
        <p:spPr>
          <a:xfrm>
            <a:off x="7498080" y="4617720"/>
            <a:ext cx="4114800" cy="16916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/metrics from prometheus-fastapi-instrumentator plus Pantrix counters</a:t>
            </a:r>
            <a:endParaRPr lang="en-US" sz="1300" dirty="0"/>
          </a:p>
          <a:p>
            <a:pPr marL="203200" indent="-203200">
              <a:spcAft>
                <a:spcPts val="600"/>
              </a:spcAft>
              <a:buSzPct val="100000"/>
              <a:buChar char="•"/>
            </a:pPr>
            <a:r>
              <a:rPr lang="en-US" sz="1300" dirty="0">
                <a:solidFill>
                  <a:schemeClr val="tx1"/>
                </a:solidFill>
              </a:rPr>
              <a:t>ServiceMonitor scrape every 15 s; alert rules for down, 5xx and slow p95</a:t>
            </a:r>
            <a:endParaRPr lang="en-US" sz="1300" dirty="0"/>
          </a:p>
          <a:p>
            <a:pPr marL="203200" indent="-203200">
              <a:spcAft>
                <a:spcPts val="600"/>
              </a:spcAft>
              <a:buSzPct val="100000"/>
              <a:buChar char="•"/>
            </a:pPr>
            <a:r>
              <a:rPr lang="en-US" sz="1300" dirty="0">
                <a:solidFill>
                  <a:schemeClr val="tx1"/>
                </a:solidFill>
              </a:rPr>
              <a:t>Structured JSON access logs from the API</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Five troubleshooting drills, run for real</a:t>
            </a:r>
            <a:endParaRPr lang="en-US" sz="3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737360"/>
                <a:gridCol w="2651760"/>
                <a:gridCol w="3840480"/>
                <a:gridCol w="2834640"/>
              </a:tblGrid>
              <a:tr h="502920">
                <a:tc>
                  <a:txBody>
                    <a:bodyPr/>
                    <a:lstStyle/>
                    <a:p>
                      <a:pPr indent="0" marL="0">
                        <a:buNone/>
                      </a:pPr>
                      <a:r>
                        <a:rPr lang="en-US" sz="1300" b="1" dirty="0">
                          <a:solidFill>
                            <a:srgbClr val="FBF6EC"/>
                          </a:solidFill>
                        </a:rPr>
                        <a:t>Drill</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2B211A"/>
                    </a:solidFill>
                  </a:tcPr>
                </a:tc>
                <a:tc>
                  <a:txBody>
                    <a:bodyPr/>
                    <a:lstStyle/>
                    <a:p>
                      <a:pPr indent="0" marL="0">
                        <a:buNone/>
                      </a:pPr>
                      <a:r>
                        <a:rPr lang="en-US" sz="1300" b="1" dirty="0">
                          <a:solidFill>
                            <a:srgbClr val="FBF6EC"/>
                          </a:solidFill>
                        </a:rPr>
                        <a:t>Symptom</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2B211A"/>
                    </a:solidFill>
                  </a:tcPr>
                </a:tc>
                <a:tc>
                  <a:txBody>
                    <a:bodyPr/>
                    <a:lstStyle/>
                    <a:p>
                      <a:pPr indent="0" marL="0">
                        <a:buNone/>
                      </a:pPr>
                      <a:r>
                        <a:rPr lang="en-US" sz="1300" b="1" dirty="0">
                          <a:solidFill>
                            <a:srgbClr val="FBF6EC"/>
                          </a:solidFill>
                        </a:rPr>
                        <a:t>Diagnosis</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2B211A"/>
                    </a:solidFill>
                  </a:tcPr>
                </a:tc>
                <a:tc>
                  <a:txBody>
                    <a:bodyPr/>
                    <a:lstStyle/>
                    <a:p>
                      <a:pPr indent="0" marL="0">
                        <a:buNone/>
                      </a:pPr>
                      <a:r>
                        <a:rPr lang="en-US" sz="1300" b="1" dirty="0">
                          <a:solidFill>
                            <a:srgbClr val="FBF6EC"/>
                          </a:solidFill>
                        </a:rPr>
                        <a:t>Fix</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2B211A"/>
                    </a:solidFill>
                  </a:tcPr>
                </a:tc>
              </a:tr>
              <a:tr h="502920">
                <a:tc>
                  <a:txBody>
                    <a:bodyPr/>
                    <a:lstStyle/>
                    <a:p>
                      <a:pPr indent="0" marL="0">
                        <a:buNone/>
                      </a:pPr>
                      <a:r>
                        <a:rPr lang="en-US" sz="1300" dirty="0">
                          <a:solidFill>
                            <a:srgbClr val="2B211A"/>
                          </a:solidFill>
                        </a:rPr>
                        <a:t>1 Broken image</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ImagePullBackOff</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tag v9.9.9-typo was never published</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deploy the Git-SHA tag</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2B211A"/>
                          </a:solidFill>
                        </a:rPr>
                        <a:t>2 Broken Service</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no endpoints, connection refused</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selector app=shelf-frontend matches no pods</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correct the selector</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2B211A"/>
                          </a:solidFill>
                        </a:rPr>
                        <a:t>3 Readiness</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Running but 0/1 Ready</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/health 200, /ready 503: DB password wrong</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use the right Secret</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2B211A"/>
                          </a:solidFill>
                        </a:rPr>
                        <a:t>4 Migration</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Init:Error</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Alembic cannot resolve lab-postgresql</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fix the database host</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2B211A"/>
                          </a:solidFill>
                        </a:rPr>
                        <a:t>5 Bad release</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new pods ImagePullBackOff</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old pods still serve (maxUnavailable 0)</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c>
                  <a:txBody>
                    <a:bodyPr/>
                    <a:lstStyle/>
                    <a:p>
                      <a:pPr indent="0" marL="0">
                        <a:buNone/>
                      </a:pPr>
                      <a:r>
                        <a:rPr lang="en-US" sz="1300" dirty="0">
                          <a:solidFill>
                            <a:srgbClr val="2B211A"/>
                          </a:solidFill>
                        </a:rPr>
                        <a:t>helm rollback, zero downtime</a:t>
                      </a:r>
                      <a:endParaRPr lang="en-US" sz="1300" dirty="0"/>
                    </a:p>
                  </a:txBody>
                  <a:tcPr marL="64008" marR="64008" marT="64008" marB="64008" anchor="ctr">
                    <a:lnL w="9525" cap="flat" cmpd="sng" algn="ctr">
                      <a:solidFill>
                        <a:srgbClr val="E0D2BB"/>
                      </a:solidFill>
                      <a:prstDash val="solid"/>
                      <a:round/>
                      <a:headEnd type="none" w="med" len="med"/>
                      <a:tailEnd type="none" w="med" len="med"/>
                    </a:lnL>
                    <a:lnR w="9525" cap="flat" cmpd="sng" algn="ctr">
                      <a:solidFill>
                        <a:srgbClr val="E0D2BB"/>
                      </a:solidFill>
                      <a:prstDash val="solid"/>
                      <a:round/>
                      <a:headEnd type="none" w="med" len="med"/>
                      <a:tailEnd type="none" w="med" len="med"/>
                    </a:lnR>
                    <a:lnT w="9525" cap="flat" cmpd="sng" algn="ctr">
                      <a:solidFill>
                        <a:srgbClr val="E0D2BB"/>
                      </a:solidFill>
                      <a:prstDash val="solid"/>
                      <a:round/>
                      <a:headEnd type="none" w="med" len="med"/>
                      <a:tailEnd type="none" w="med" len="med"/>
                    </a:lnT>
                    <a:lnB w="9525" cap="flat" cmpd="sng" algn="ctr">
                      <a:solidFill>
                        <a:srgbClr val="E0D2BB"/>
                      </a:solidFill>
                      <a:prstDash val="solid"/>
                      <a:round/>
                      <a:headEnd type="none" w="med" len="med"/>
                      <a:tailEnd type="none" w="med" len="med"/>
                    </a:lnB>
                    <a:solidFill>
                      <a:srgbClr val="FFFFFF"/>
                    </a:solidFill>
                  </a:tcPr>
                </a:tc>
              </a:tr>
            </a:tbl>
          </a:graphicData>
        </a:graphic>
      </p:graphicFrame>
      <p:sp>
        <p:nvSpPr>
          <p:cNvPr id="4" name="bug-box"/>
          <p:cNvSpPr/>
          <p:nvPr/>
        </p:nvSpPr>
        <p:spPr>
          <a:xfrm>
            <a:off x="548640" y="4572000"/>
            <a:ext cx="11064240" cy="1417320"/>
          </a:xfrm>
          <a:prstGeom prst="roundRect">
            <a:avLst>
              <a:gd name="adj" fmla="val 6452"/>
            </a:avLst>
          </a:prstGeom>
          <a:solidFill>
            <a:schemeClr val="bg1"/>
          </a:solidFill>
          <a:ln w="9525">
            <a:solidFill>
              <a:srgbClr val="E0D2BB"/>
            </a:solidFill>
            <a:prstDash val="solid"/>
          </a:ln>
        </p:spPr>
      </p:sp>
      <p:sp>
        <p:nvSpPr>
          <p:cNvPr id="5" name="bug-dot"/>
          <p:cNvSpPr/>
          <p:nvPr/>
        </p:nvSpPr>
        <p:spPr>
          <a:xfrm>
            <a:off x="731520" y="4773168"/>
            <a:ext cx="201168" cy="201168"/>
          </a:xfrm>
          <a:prstGeom prst="ellipse">
            <a:avLst/>
          </a:prstGeom>
          <a:solidFill>
            <a:srgbClr val="B8532D"/>
          </a:solidFill>
          <a:ln w="12700">
            <a:solidFill>
              <a:srgbClr val="B8532D"/>
            </a:solidFill>
            <a:prstDash val="solid"/>
          </a:ln>
        </p:spPr>
      </p:sp>
      <p:sp>
        <p:nvSpPr>
          <p:cNvPr id="6" name="bug-title"/>
          <p:cNvSpPr txBox="1"/>
          <p:nvPr/>
        </p:nvSpPr>
        <p:spPr>
          <a:xfrm>
            <a:off x="1024128" y="4681728"/>
            <a:ext cx="10424160" cy="38404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 drill found a real bug</a:t>
            </a:r>
            <a:endParaRPr lang="en-US" sz="1700" dirty="0"/>
          </a:p>
        </p:txBody>
      </p:sp>
      <p:sp>
        <p:nvSpPr>
          <p:cNvPr id="7" name="bug-body"/>
          <p:cNvSpPr txBox="1"/>
          <p:nvPr/>
        </p:nvSpPr>
        <p:spPr>
          <a:xfrm>
            <a:off x="731520" y="5120640"/>
            <a:ext cx="10698480" cy="777240"/>
          </a:xfrm>
          <a:prstGeom prst="rect">
            <a:avLst/>
          </a:prstGeom>
          <a:noFill/>
          <a:ln/>
        </p:spPr>
        <p:txBody>
          <a:bodyPr wrap="square" lIns="0" tIns="0" rIns="0" bIns="0" rtlCol="0" anchor="t"/>
          <a:lstStyle/>
          <a:p>
            <a:pPr indent="0" marL="0">
              <a:buNone/>
            </a:pPr>
            <a:r>
              <a:rPr lang="en-US" sz="1300" dirty="0">
                <a:solidFill>
                  <a:schemeClr val="tx2"/>
                </a:solidFill>
              </a:rPr>
              <a:t>Nginx resolved the /api upstream only at start-up, so the UI crash-looped when the backend Service did not exist yet. It now resolves at request time and the UI starts on its own (commit 1bfb95a).</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bg2"/>
                </a:solidFill>
              </a:rPr>
              <a:t>What I learned and what is verified</a:t>
            </a:r>
            <a:endParaRPr lang="en-US" sz="3400" dirty="0"/>
          </a:p>
        </p:txBody>
      </p:sp>
      <p:sp>
        <p:nvSpPr>
          <p:cNvPr id="3" name="learn-h"/>
          <p:cNvSpPr txBox="1"/>
          <p:nvPr/>
        </p:nvSpPr>
        <p:spPr>
          <a:xfrm>
            <a:off x="548640" y="1325880"/>
            <a:ext cx="3520440" cy="457200"/>
          </a:xfrm>
          <a:prstGeom prst="rect">
            <a:avLst/>
          </a:prstGeom>
          <a:noFill/>
          <a:ln/>
        </p:spPr>
        <p:txBody>
          <a:bodyPr wrap="square" lIns="0" tIns="0" rIns="0" bIns="0" rtlCol="0" anchor="ctr"/>
          <a:lstStyle/>
          <a:p>
            <a:pPr indent="0" marL="0">
              <a:buNone/>
            </a:pPr>
            <a:r>
              <a:rPr lang="en-US" sz="2000" b="1" dirty="0">
                <a:solidFill>
                  <a:srgbClr val="C48A0C"/>
                </a:solidFill>
                <a:latin typeface="Cambria" pitchFamily="34" charset="0"/>
                <a:ea typeface="Cambria" pitchFamily="34" charset="-122"/>
                <a:cs typeface="Cambria" pitchFamily="34" charset="-120"/>
              </a:rPr>
              <a:t>Key learnings</a:t>
            </a:r>
            <a:endParaRPr lang="en-US" sz="2000" dirty="0"/>
          </a:p>
        </p:txBody>
      </p:sp>
      <p:sp>
        <p:nvSpPr>
          <p:cNvPr id="4" name="learn-list"/>
          <p:cNvSpPr txBox="1"/>
          <p:nvPr/>
        </p:nvSpPr>
        <p:spPr>
          <a:xfrm>
            <a:off x="548640" y="1874520"/>
            <a:ext cx="3520440" cy="365760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FBF6EC"/>
                </a:solidFill>
              </a:rPr>
              <a:t>Scanners are useful only if you fix the cause, not silence the finding</a:t>
            </a:r>
            <a:endParaRPr lang="en-US" sz="1350" dirty="0"/>
          </a:p>
          <a:p>
            <a:pPr marL="177800" indent="-177800">
              <a:spcAft>
                <a:spcPts val="600"/>
              </a:spcAft>
              <a:buSzPct val="100000"/>
              <a:buChar char="•"/>
            </a:pPr>
            <a:r>
              <a:rPr lang="en-US" sz="1350" dirty="0">
                <a:solidFill>
                  <a:srgbClr val="FBF6EC"/>
                </a:solidFill>
              </a:rPr>
              <a:t>Liveness and readiness answer different questions</a:t>
            </a:r>
            <a:endParaRPr lang="en-US" sz="1350" dirty="0"/>
          </a:p>
          <a:p>
            <a:pPr marL="177800" indent="-177800">
              <a:spcAft>
                <a:spcPts val="600"/>
              </a:spcAft>
              <a:buSzPct val="100000"/>
              <a:buChar char="•"/>
            </a:pPr>
            <a:r>
              <a:rPr lang="en-US" sz="1350" dirty="0">
                <a:solidFill>
                  <a:srgbClr val="FBF6EC"/>
                </a:solidFill>
              </a:rPr>
              <a:t>Separate build from deploy: CI publishes, Git decides what runs</a:t>
            </a:r>
            <a:endParaRPr lang="en-US" sz="1350" dirty="0"/>
          </a:p>
          <a:p>
            <a:pPr marL="177800" indent="-177800">
              <a:spcAft>
                <a:spcPts val="600"/>
              </a:spcAft>
              <a:buSzPct val="100000"/>
              <a:buChar char="•"/>
            </a:pPr>
            <a:r>
              <a:rPr lang="en-US" sz="1350" dirty="0">
                <a:solidFill>
                  <a:srgbClr val="FBF6EC"/>
                </a:solidFill>
              </a:rPr>
              <a:t>Drills find real bugs before users do</a:t>
            </a:r>
            <a:endParaRPr lang="en-US" sz="1350" dirty="0"/>
          </a:p>
        </p:txBody>
      </p:sp>
      <p:sp>
        <p:nvSpPr>
          <p:cNvPr id="5" name="ok-h"/>
          <p:cNvSpPr txBox="1"/>
          <p:nvPr/>
        </p:nvSpPr>
        <p:spPr>
          <a:xfrm>
            <a:off x="4325112" y="1325880"/>
            <a:ext cx="3520440" cy="457200"/>
          </a:xfrm>
          <a:prstGeom prst="rect">
            <a:avLst/>
          </a:prstGeom>
          <a:noFill/>
          <a:ln/>
        </p:spPr>
        <p:txBody>
          <a:bodyPr wrap="square" lIns="0" tIns="0" rIns="0" bIns="0" rtlCol="0" anchor="ctr"/>
          <a:lstStyle/>
          <a:p>
            <a:pPr indent="0" marL="0">
              <a:buNone/>
            </a:pPr>
            <a:r>
              <a:rPr lang="en-US" sz="2000" b="1" dirty="0">
                <a:solidFill>
                  <a:srgbClr val="B5D27A"/>
                </a:solidFill>
                <a:latin typeface="Cambria" pitchFamily="34" charset="0"/>
                <a:ea typeface="Cambria" pitchFamily="34" charset="-122"/>
                <a:cs typeface="Cambria" pitchFamily="34" charset="-120"/>
              </a:rPr>
              <a:t>Verified here</a:t>
            </a:r>
            <a:endParaRPr lang="en-US" sz="2000" dirty="0"/>
          </a:p>
        </p:txBody>
      </p:sp>
      <p:sp>
        <p:nvSpPr>
          <p:cNvPr id="6" name="ok-list"/>
          <p:cNvSpPr txBox="1"/>
          <p:nvPr/>
        </p:nvSpPr>
        <p:spPr>
          <a:xfrm>
            <a:off x="4325112" y="1874520"/>
            <a:ext cx="3520440" cy="365760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FBF6EC"/>
                </a:solidFill>
              </a:rPr>
              <a:t>App, CRUD, 41 tests, Compose stack, non-root images</a:t>
            </a:r>
            <a:endParaRPr lang="en-US" sz="1350" dirty="0"/>
          </a:p>
          <a:p>
            <a:pPr marL="177800" indent="-177800">
              <a:spcAft>
                <a:spcPts val="600"/>
              </a:spcAft>
              <a:buSzPct val="100000"/>
              <a:buChar char="•"/>
            </a:pPr>
            <a:r>
              <a:rPr lang="en-US" sz="1350" dirty="0">
                <a:solidFill>
                  <a:srgbClr val="FBF6EC"/>
                </a:solidFill>
              </a:rPr>
              <a:t>Trivy, Gitleaks, SBOMs, IaC scan</a:t>
            </a:r>
            <a:endParaRPr lang="en-US" sz="1350" dirty="0"/>
          </a:p>
          <a:p>
            <a:pPr marL="177800" indent="-177800">
              <a:spcAft>
                <a:spcPts val="600"/>
              </a:spcAft>
              <a:buSzPct val="100000"/>
              <a:buChar char="•"/>
            </a:pPr>
            <a:r>
              <a:rPr lang="en-US" sz="1350" dirty="0">
                <a:solidFill>
                  <a:srgbClr val="FBF6EC"/>
                </a:solidFill>
              </a:rPr>
              <a:t>Helm on kind, Ingress, HPA 2 to 6, Argo CD Synced</a:t>
            </a:r>
            <a:endParaRPr lang="en-US" sz="1350" dirty="0"/>
          </a:p>
          <a:p>
            <a:pPr marL="177800" indent="-177800">
              <a:spcAft>
                <a:spcPts val="600"/>
              </a:spcAft>
              <a:buSzPct val="100000"/>
              <a:buChar char="•"/>
            </a:pPr>
            <a:r>
              <a:rPr lang="en-US" sz="1350" dirty="0">
                <a:solidFill>
                  <a:srgbClr val="FBF6EC"/>
                </a:solidFill>
              </a:rPr>
              <a:t>Prometheus 6/6 UP, Grafana with live traffic</a:t>
            </a:r>
            <a:endParaRPr lang="en-US" sz="1350" dirty="0"/>
          </a:p>
        </p:txBody>
      </p:sp>
      <p:sp>
        <p:nvSpPr>
          <p:cNvPr id="7" name="pend-h"/>
          <p:cNvSpPr txBox="1"/>
          <p:nvPr/>
        </p:nvSpPr>
        <p:spPr>
          <a:xfrm>
            <a:off x="8101584" y="1325880"/>
            <a:ext cx="3520440" cy="457200"/>
          </a:xfrm>
          <a:prstGeom prst="rect">
            <a:avLst/>
          </a:prstGeom>
          <a:noFill/>
          <a:ln/>
        </p:spPr>
        <p:txBody>
          <a:bodyPr wrap="square" lIns="0" tIns="0" rIns="0" bIns="0" rtlCol="0" anchor="ctr"/>
          <a:lstStyle/>
          <a:p>
            <a:pPr indent="0" marL="0">
              <a:buNone/>
            </a:pPr>
            <a:r>
              <a:rPr lang="en-US" sz="2000" b="1" dirty="0">
                <a:solidFill>
                  <a:srgbClr val="F19AA3"/>
                </a:solidFill>
                <a:latin typeface="Cambria" pitchFamily="34" charset="0"/>
                <a:ea typeface="Cambria" pitchFamily="34" charset="-122"/>
                <a:cs typeface="Cambria" pitchFamily="34" charset="-120"/>
              </a:rPr>
              <a:t>Also verified</a:t>
            </a:r>
            <a:endParaRPr lang="en-US" sz="2000" dirty="0"/>
          </a:p>
        </p:txBody>
      </p:sp>
      <p:sp>
        <p:nvSpPr>
          <p:cNvPr id="8" name="pend-list"/>
          <p:cNvSpPr txBox="1"/>
          <p:nvPr/>
        </p:nvSpPr>
        <p:spPr>
          <a:xfrm>
            <a:off x="8101584" y="1874520"/>
            <a:ext cx="3520440" cy="365760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FBF6EC"/>
                </a:solidFill>
              </a:rPr>
              <a:t>GitHub Actions run green, GHCR packages, GitOps promotion</a:t>
            </a:r>
            <a:endParaRPr lang="en-US" sz="1350" dirty="0"/>
          </a:p>
          <a:p>
            <a:pPr marL="177800" indent="-177800">
              <a:spcAft>
                <a:spcPts val="600"/>
              </a:spcAft>
              <a:buSzPct val="100000"/>
              <a:buChar char="•"/>
            </a:pPr>
            <a:r>
              <a:rPr lang="en-US" sz="1350" dirty="0">
                <a:solidFill>
                  <a:srgbClr val="FBF6EC"/>
                </a:solidFill>
              </a:rPr>
              <a:t>Real AWS VPC + EKS plan, apply, Console proof, destroy</a:t>
            </a:r>
            <a:endParaRPr lang="en-US" sz="1350" dirty="0"/>
          </a:p>
        </p:txBody>
      </p:sp>
      <p:sp>
        <p:nvSpPr>
          <p:cNvPr id="9" name="thanks"/>
          <p:cNvSpPr txBox="1"/>
          <p:nvPr/>
        </p:nvSpPr>
        <p:spPr>
          <a:xfrm>
            <a:off x="548640" y="5897880"/>
            <a:ext cx="11064240" cy="457200"/>
          </a:xfrm>
          <a:prstGeom prst="rect">
            <a:avLst/>
          </a:prstGeom>
          <a:noFill/>
          <a:ln/>
        </p:spPr>
        <p:txBody>
          <a:bodyPr wrap="square" lIns="0" tIns="0" rIns="0" bIns="0" rtlCol="0" anchor="ctr"/>
          <a:lstStyle/>
          <a:p>
            <a:pPr indent="0" marL="0">
              <a:buNone/>
            </a:pPr>
            <a:r>
              <a:rPr lang="en-US" sz="2000" dirty="0">
                <a:solidFill>
                  <a:srgbClr val="FBF6EC"/>
                </a:solidFill>
                <a:latin typeface="Cambria" pitchFamily="34" charset="0"/>
                <a:ea typeface="Cambria" pitchFamily="34" charset="-122"/>
                <a:cs typeface="Cambria" pitchFamily="34" charset="-120"/>
              </a:rPr>
              <a:t>Thank you · Dhruv Sharma · github.com/spiritsfuse</a:t>
            </a:r>
            <a:endParaRPr lang="en-US" sz="2000" dirty="0"/>
          </a:p>
        </p:txBody>
      </p:sp>
    </p:spTree>
  </p:cSld>
  <p:clrMapOvr>
    <a:masterClrMapping/>
  </p:clrMapOvr>
</p:sld>
</file>

<file path=ppt/theme/theme1.xml><?xml version="1.0" encoding="utf-8"?>
<a:theme xmlns:a="http://schemas.openxmlformats.org/drawingml/2006/main" name="Pantrix Pantry Ledger">
  <a:themeElements>
    <a:clrScheme name="Pantrix Pantry Ledger">
      <a:dk1>
        <a:srgbClr val="2B211A"/>
      </a:dk1>
      <a:lt1>
        <a:srgbClr val="FFFFFF"/>
      </a:lt1>
      <a:dk2>
        <a:srgbClr val="6B5D50"/>
      </a:dk2>
      <a:lt2>
        <a:srgbClr val="FBF6EC"/>
      </a:lt2>
      <a:accent1>
        <a:srgbClr val="B8532D"/>
      </a:accent1>
      <a:accent2>
        <a:srgbClr val="5F7330"/>
      </a:accent2>
      <a:accent3>
        <a:srgbClr val="C48A0C"/>
      </a:accent3>
      <a:accent4>
        <a:srgbClr val="A92F3C"/>
      </a:accent4>
      <a:accent5>
        <a:srgbClr val="8A8178"/>
      </a:accent5>
      <a:accent6>
        <a:srgbClr val="8F3C1D"/>
      </a:accent6>
      <a:hlink>
        <a:srgbClr val="8F3C1D"/>
      </a:hlink>
      <a:folHlink>
        <a:srgbClr val="6B5D50"/>
      </a:folHlink>
    </a:clrScheme>
    <a:fontScheme name="Pantrix Pantry Led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Spiritsfuse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Pantrix - DevSecOps capstone</dc:title>
  <dc:subject>Pantrix: donated stock and expiry tracking, from laptop to monitored Kubernetes</dc:subject>
  <dc:creator>Dhruv Sharma</dc:creator>
  <cp:lastModifiedBy>Dhruv Sharma</cp:lastModifiedBy>
  <cp:revision>1</cp:revision>
  <dcterms:created xsi:type="dcterms:W3CDTF">2026-10-12T18:44:49Z</dcterms:created>
  <dcterms:modified xsi:type="dcterms:W3CDTF">2026-10-12T18:44:49Z</dcterms:modified>
</cp:coreProperties>
</file>